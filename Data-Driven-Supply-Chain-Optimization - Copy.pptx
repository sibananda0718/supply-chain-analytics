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3" r:id="rId2"/>
  </p:sldMasterIdLst>
  <p:notesMasterIdLst>
    <p:notesMasterId r:id="rId14"/>
  </p:notesMasterIdLst>
  <p:sldIdLst>
    <p:sldId id="256" r:id="rId3"/>
    <p:sldId id="267" r:id="rId4"/>
    <p:sldId id="277" r:id="rId5"/>
    <p:sldId id="269" r:id="rId6"/>
    <p:sldId id="270" r:id="rId7"/>
    <p:sldId id="271" r:id="rId8"/>
    <p:sldId id="272" r:id="rId9"/>
    <p:sldId id="273" r:id="rId10"/>
    <p:sldId id="274" r:id="rId11"/>
    <p:sldId id="275" r:id="rId12"/>
    <p:sldId id="276" r:id="rId13"/>
  </p:sldIdLst>
  <p:sldSz cx="9144000" cy="5143500" type="screen16x9"/>
  <p:notesSz cx="5143500" cy="9144000"/>
  <p:embeddedFontLst>
    <p:embeddedFont>
      <p:font typeface="Merriweather" panose="00000500000000000000" pitchFamily="2" charset="0"/>
      <p:regular r:id="rId15"/>
    </p:embeddedFont>
    <p:embeddedFont>
      <p:font typeface="Merriweather Bold" panose="00000800000000000000"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326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opening slide frames the executive review and establishes the analytical foundation for the deck. It highlights the scale of the dataset, the quantified logistics leakage, and the last-mile delay issue to position the presentation as a data-driven supply chain optimization effort.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project as both a data-quality and analytics-architecture effort: first diagnose leakage and delay drivers, then transform fragmented source files into a clean schema and interactive BI layer. Emphasize that the goal is not just reporting, but creating a reusable decision infrastructure for supply chain visibility and exception management.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ETL layer that transformed raw Olist e-commerce tables into a clean analytical model. Key takeaways: the pipeline removed bad records, standardized dates and geography fields, and created reusable summary tables for revenue, logistics delay, and freight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Power BI star schema used to align enterprise data structures for reporting. Emphasize the central fact table, the surrounding dimension tables, and the one-to-many relationships that preserve filter integrity and improve query performance. The key takeaway is that this modeling approach supports scalable analytics and fast, reliable KPI calculation through DAX measures.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summarizes the commercial performance baseline across sales, fulfillment, delivery reliability, geography, and seasonality. Key takeaways: sales volume is strong, but delivery performance shows structural issues with a negative average delivery delta and a non-trivial failure rate. Regional concentration in São Paulo and the November seasonal spike highlight where operational planning and risk mitigation should focus.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most severe last-mile delivery delays in the network, with Novo Brasil, ES standing out as the highest-risk territory at 126 days of average lag. The table compares the worst-performing locations against the network average, reinforcing where operational intervention is most urgent.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profiles high-revenue categories alongside seller efficiency indicators to highlight where margin pressure and operational friction are most concentrated. Beauty &amp; Health leads revenue, but Handsets / Phones shows the most severe freight burden, indicating a strong need to review shipping economics, seller routing, and fulfillment strategy. The partner note reinforces that longer fulfillment times tend to align with weaker customer reviews, making logistics performance a direct lever for marketplace quality.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where value is being absorbed by logistics and how transaction volume is concentrated across payment channels. The key takeaway is that freight leakage is material, while credit card dependence creates both cost and operational risk.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concise summary of the critical issues identified across the supply chain, categorizing them into delivery failures, freight leakage, and revenue patterns. The `solidBoxes` layout highlights each finding with a distinct color, making the information easily digestible and emphasizing the core problems that require attention. It's a quick reference point for stakeholders to grasp the major challenges.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 clear three-part action plan over 12 months, moving from delivery stabilization to freight optimization and then growth expansion. The timeline at the bottom reinforces the milestone checkpoints and keeps the recommendations easy to scan for decision-makers.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162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314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17497811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997629"/>
      </p:ext>
    </p:extLst>
  </p:cSld>
  <p:clrMap bg1="lt1" tx1="dk1" bg2="lt2" tx2="dk2" accent1="accent1" accent2="accent2" accent3="accent3" accent4="accent4" accent5="accent5" accent6="accent6" hlink="hlink" folHlink="folHlink"/>
  <p:sldLayoutIdLst>
    <p:sldLayoutId id="2147483654" r:id="rId1"/>
    <p:sldLayoutId id="214748365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ibananda-swain/supply-chain-analytics"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linkedin.com/in/sibananda-sw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1591732" y="252382"/>
            <a:ext cx="5960533" cy="289917"/>
          </a:xfrm>
          <a:prstGeom prst="roundRect">
            <a:avLst>
              <a:gd name="adj" fmla="val 17879"/>
            </a:avLst>
          </a:prstGeom>
          <a:solidFill>
            <a:srgbClr val="001D4D"/>
          </a:solidFill>
          <a:ln/>
        </p:spPr>
      </p:sp>
      <p:sp>
        <p:nvSpPr>
          <p:cNvPr id="4" name="Text 1"/>
          <p:cNvSpPr/>
          <p:nvPr/>
        </p:nvSpPr>
        <p:spPr>
          <a:xfrm>
            <a:off x="2289869" y="277806"/>
            <a:ext cx="4564261" cy="197495"/>
          </a:xfrm>
          <a:prstGeom prst="rect">
            <a:avLst/>
          </a:prstGeom>
          <a:noFill/>
          <a:ln/>
        </p:spPr>
        <p:txBody>
          <a:bodyPr wrap="none" lIns="0" tIns="0" rIns="0" bIns="0" rtlCol="0" anchor="t"/>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SUPPLY CHAIN ADVISORY INITIATIVE | EXECUTIVE BOARD REVIEW</a:t>
            </a:r>
            <a:endParaRPr lang="en-US" sz="1200" dirty="0"/>
          </a:p>
        </p:txBody>
      </p:sp>
      <p:sp>
        <p:nvSpPr>
          <p:cNvPr id="5" name="Text 2"/>
          <p:cNvSpPr/>
          <p:nvPr/>
        </p:nvSpPr>
        <p:spPr>
          <a:xfrm>
            <a:off x="539874" y="915145"/>
            <a:ext cx="8299326" cy="1241674"/>
          </a:xfrm>
          <a:prstGeom prst="rect">
            <a:avLst/>
          </a:prstGeom>
          <a:noFill/>
          <a:ln/>
        </p:spPr>
        <p:txBody>
          <a:bodyPr wrap="square" lIns="0" tIns="0" rIns="0" bIns="0" rtlCol="0" anchor="t">
            <a:noAutofit/>
          </a:bodyPr>
          <a:lstStyle/>
          <a:p>
            <a:pPr algn="ctr">
              <a:lnSpc>
                <a:spcPct val="104000"/>
              </a:lnSpc>
            </a:pPr>
            <a:r>
              <a:rPr lang="en-IN" sz="4000" dirty="0">
                <a:solidFill>
                  <a:schemeClr val="bg2"/>
                </a:solidFill>
                <a:latin typeface="Times New Roman" panose="02020603050405020304" pitchFamily="18" charset="0"/>
                <a:cs typeface="Times New Roman" panose="02020603050405020304" pitchFamily="18" charset="0"/>
              </a:rPr>
              <a:t>Supply Chain Performance Analysis Brazilian E-Commerce Network</a:t>
            </a:r>
            <a:endParaRPr lang="en-US" sz="4000" dirty="0">
              <a:solidFill>
                <a:schemeClr val="bg2"/>
              </a:solidFill>
              <a:latin typeface="Times New Roman" panose="02020603050405020304" pitchFamily="18" charset="0"/>
              <a:cs typeface="Times New Roman" panose="02020603050405020304" pitchFamily="18" charset="0"/>
            </a:endParaRPr>
          </a:p>
        </p:txBody>
      </p:sp>
      <p:sp>
        <p:nvSpPr>
          <p:cNvPr id="6" name="Text 3"/>
          <p:cNvSpPr/>
          <p:nvPr/>
        </p:nvSpPr>
        <p:spPr>
          <a:xfrm>
            <a:off x="2344817" y="3510056"/>
            <a:ext cx="4635252" cy="753466"/>
          </a:xfrm>
          <a:prstGeom prst="rect">
            <a:avLst/>
          </a:prstGeom>
          <a:noFill/>
          <a:ln/>
        </p:spPr>
        <p:txBody>
          <a:bodyPr wrap="square" lIns="0" tIns="0" rIns="0" bIns="0" rtlCol="0" anchor="t">
            <a:normAutofit fontScale="92500" lnSpcReduction="20000"/>
          </a:bodyPr>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Prepared by: Sibananda Swain </a:t>
            </a:r>
          </a:p>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 Supply Chain Data Analyst , June 2026</a:t>
            </a:r>
            <a:endParaRPr lang="en-US" sz="1200" dirty="0"/>
          </a:p>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Technical Stack: Microsoft Excel  , Power BI Desktop </a:t>
            </a:r>
          </a:p>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 Brazilian E-Commerce Olist Dataset (118,310 Records, 2016–2018)</a:t>
            </a:r>
            <a:endParaRPr lang="en-US" sz="1200" dirty="0"/>
          </a:p>
        </p:txBody>
      </p:sp>
      <p:sp>
        <p:nvSpPr>
          <p:cNvPr id="7" name="Text 4"/>
          <p:cNvSpPr/>
          <p:nvPr/>
        </p:nvSpPr>
        <p:spPr>
          <a:xfrm>
            <a:off x="512780" y="4668199"/>
            <a:ext cx="8299326" cy="394990"/>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950" dirty="0"/>
          </a:p>
        </p:txBody>
      </p:sp>
      <p:sp>
        <p:nvSpPr>
          <p:cNvPr id="8" name="Rectangle 7">
            <a:extLst>
              <a:ext uri="{FF2B5EF4-FFF2-40B4-BE49-F238E27FC236}">
                <a16:creationId xmlns:a16="http://schemas.microsoft.com/office/drawing/2014/main" id="{6E2F70DF-BFDA-5D37-C926-E1D15B816FEF}"/>
              </a:ext>
            </a:extLst>
          </p:cNvPr>
          <p:cNvSpPr/>
          <p:nvPr/>
        </p:nvSpPr>
        <p:spPr>
          <a:xfrm>
            <a:off x="8019627" y="4876799"/>
            <a:ext cx="1049866" cy="2099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49EF3DF-1681-5DAB-16DF-96F24480C19E}"/>
              </a:ext>
            </a:extLst>
          </p:cNvPr>
          <p:cNvSpPr txBox="1"/>
          <p:nvPr/>
        </p:nvSpPr>
        <p:spPr>
          <a:xfrm>
            <a:off x="248620" y="2322676"/>
            <a:ext cx="8459893" cy="615553"/>
          </a:xfrm>
          <a:prstGeom prst="rect">
            <a:avLst/>
          </a:prstGeom>
          <a:noFill/>
        </p:spPr>
        <p:txBody>
          <a:bodyPr wrap="square" rtlCol="0">
            <a:spAutoFit/>
          </a:bodyPr>
          <a:lstStyle/>
          <a:p>
            <a:pPr algn="ctr"/>
            <a:r>
              <a:rPr lang="en-IN" sz="1600" dirty="0">
                <a:solidFill>
                  <a:srgbClr val="FFFF00"/>
                </a:solidFill>
                <a:latin typeface="Times New Roman" panose="02020603050405020304" pitchFamily="18" charset="0"/>
                <a:cs typeface="Times New Roman" panose="02020603050405020304" pitchFamily="18" charset="0"/>
              </a:rPr>
              <a:t>Identifying ₹2.37M in Freight Leakage and 126-Day Delivery Failures Across 118,310 Orders</a:t>
            </a:r>
            <a:endParaRPr lang="en-US" sz="1600" dirty="0">
              <a:solidFill>
                <a:srgbClr val="FFFF00"/>
              </a:solidFill>
              <a:latin typeface="Times New Roman" panose="02020603050405020304" pitchFamily="18" charset="0"/>
              <a:cs typeface="Times New Roman" panose="02020603050405020304" pitchFamily="18" charset="0"/>
            </a:endParaRPr>
          </a:p>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969118" y="964488"/>
            <a:ext cx="2884540" cy="3410843"/>
          </a:xfrm>
          <a:prstGeom prst="roundRect">
            <a:avLst>
              <a:gd name="adj" fmla="val 2137"/>
            </a:avLst>
          </a:prstGeom>
          <a:solidFill>
            <a:srgbClr val="041938">
              <a:alpha val="95000"/>
            </a:srgbClr>
          </a:solidFill>
          <a:ln/>
        </p:spPr>
        <p:txBody>
          <a:bodyPr/>
          <a:lstStyle/>
          <a:p>
            <a:endParaRPr lang="en-IN" dirty="0"/>
          </a:p>
        </p:txBody>
      </p:sp>
      <p:sp>
        <p:nvSpPr>
          <p:cNvPr id="6" name="Text 4"/>
          <p:cNvSpPr/>
          <p:nvPr/>
        </p:nvSpPr>
        <p:spPr>
          <a:xfrm>
            <a:off x="2550045" y="1141852"/>
            <a:ext cx="1722686" cy="158204"/>
          </a:xfrm>
          <a:prstGeom prst="rect">
            <a:avLst/>
          </a:prstGeom>
          <a:noFill/>
          <a:ln/>
        </p:spPr>
        <p:txBody>
          <a:bodyPr wrap="none" lIns="0" tIns="0" rIns="0" bIns="0" rtlCol="0" anchor="t"/>
          <a:lstStyle/>
          <a:p>
            <a:pPr marL="0" indent="0" algn="ctr">
              <a:lnSpc>
                <a:spcPct val="104000"/>
              </a:lnSpc>
              <a:buNone/>
            </a:pPr>
            <a:r>
              <a:rPr lang="en-US" sz="1000" dirty="0">
                <a:solidFill>
                  <a:srgbClr val="F5F0F0"/>
                </a:solidFill>
                <a:latin typeface="Merriweather" pitchFamily="34" charset="0"/>
                <a:ea typeface="Merriweather" pitchFamily="34" charset="-122"/>
                <a:cs typeface="Merriweather" pitchFamily="34" charset="-120"/>
              </a:rPr>
              <a:t>Problem</a:t>
            </a:r>
            <a:endParaRPr lang="en-US" sz="1000" dirty="0"/>
          </a:p>
        </p:txBody>
      </p:sp>
      <p:sp>
        <p:nvSpPr>
          <p:cNvPr id="7" name="Text 5"/>
          <p:cNvSpPr/>
          <p:nvPr/>
        </p:nvSpPr>
        <p:spPr>
          <a:xfrm>
            <a:off x="2159649" y="1459625"/>
            <a:ext cx="2503478" cy="1162959"/>
          </a:xfrm>
          <a:prstGeom prst="rect">
            <a:avLst/>
          </a:prstGeom>
          <a:noFill/>
          <a:ln/>
        </p:spPr>
        <p:txBody>
          <a:bodyPr wrap="square" lIns="0" tIns="0" rIns="0" bIns="0" rtlCol="0" anchor="t">
            <a:noAutofit/>
          </a:bodyPr>
          <a:lstStyle/>
          <a:p>
            <a:pPr marL="0" indent="0" algn="l">
              <a:lnSpc>
                <a:spcPct val="110000"/>
              </a:lnSpc>
              <a:buNone/>
            </a:pPr>
            <a:r>
              <a:rPr lang="en-US" sz="1050" dirty="0">
                <a:solidFill>
                  <a:srgbClr val="E2E6E9"/>
                </a:solidFill>
                <a:latin typeface="Merriweather" pitchFamily="34" charset="0"/>
                <a:ea typeface="Merriweather" pitchFamily="34" charset="-122"/>
                <a:cs typeface="Merriweather" pitchFamily="34" charset="-120"/>
              </a:rPr>
              <a:t>Fragmented e-commerce networks with unmonitored logistics bleed, severe delivery lag in under-developed sub-regions, and siloed transaction tables.</a:t>
            </a:r>
            <a:endParaRPr lang="en-US" sz="1050" dirty="0"/>
          </a:p>
        </p:txBody>
      </p:sp>
      <p:sp>
        <p:nvSpPr>
          <p:cNvPr id="8" name="Text 6"/>
          <p:cNvSpPr/>
          <p:nvPr/>
        </p:nvSpPr>
        <p:spPr>
          <a:xfrm>
            <a:off x="2550045" y="2590808"/>
            <a:ext cx="1722686" cy="158204"/>
          </a:xfrm>
          <a:prstGeom prst="rect">
            <a:avLst/>
          </a:prstGeom>
          <a:noFill/>
          <a:ln/>
        </p:spPr>
        <p:txBody>
          <a:bodyPr wrap="none" lIns="0" tIns="0" rIns="0" bIns="0" rtlCol="0" anchor="t"/>
          <a:lstStyle/>
          <a:p>
            <a:pPr marL="0" indent="0" algn="ctr">
              <a:lnSpc>
                <a:spcPct val="104000"/>
              </a:lnSpc>
              <a:buNone/>
            </a:pPr>
            <a:r>
              <a:rPr lang="en-US" sz="1000" dirty="0">
                <a:solidFill>
                  <a:srgbClr val="F5F0F0"/>
                </a:solidFill>
                <a:latin typeface="Merriweather" pitchFamily="34" charset="0"/>
                <a:ea typeface="Merriweather" pitchFamily="34" charset="-122"/>
                <a:cs typeface="Merriweather" pitchFamily="34" charset="-120"/>
              </a:rPr>
              <a:t>Mission</a:t>
            </a:r>
            <a:endParaRPr lang="en-US" sz="1000" dirty="0"/>
          </a:p>
        </p:txBody>
      </p:sp>
      <p:sp>
        <p:nvSpPr>
          <p:cNvPr id="9" name="Text 7"/>
          <p:cNvSpPr/>
          <p:nvPr/>
        </p:nvSpPr>
        <p:spPr>
          <a:xfrm>
            <a:off x="2159649" y="2875434"/>
            <a:ext cx="2503478" cy="1058372"/>
          </a:xfrm>
          <a:prstGeom prst="rect">
            <a:avLst/>
          </a:prstGeom>
          <a:noFill/>
          <a:ln/>
        </p:spPr>
        <p:txBody>
          <a:bodyPr wrap="square" lIns="0" tIns="0" rIns="0" bIns="0" rtlCol="0" anchor="t">
            <a:noAutofit/>
          </a:bodyPr>
          <a:lstStyle/>
          <a:p>
            <a:pPr marL="0" indent="0" algn="l">
              <a:lnSpc>
                <a:spcPct val="110000"/>
              </a:lnSpc>
              <a:buNone/>
            </a:pPr>
            <a:r>
              <a:rPr lang="en-US" sz="1050" dirty="0">
                <a:solidFill>
                  <a:srgbClr val="E2E6E9"/>
                </a:solidFill>
                <a:latin typeface="Merriweather" pitchFamily="34" charset="0"/>
                <a:ea typeface="Merriweather" pitchFamily="34" charset="-122"/>
                <a:cs typeface="Merriweather" pitchFamily="34" charset="-120"/>
              </a:rPr>
              <a:t>Engine-clean messy multi-source data, build an enterprise relational schema, and project operational clarity through interactive business intelligence.</a:t>
            </a:r>
            <a:endParaRPr lang="en-US" sz="1050" dirty="0"/>
          </a:p>
        </p:txBody>
      </p:sp>
      <p:sp>
        <p:nvSpPr>
          <p:cNvPr id="10" name="Text 8"/>
          <p:cNvSpPr/>
          <p:nvPr/>
        </p:nvSpPr>
        <p:spPr>
          <a:xfrm>
            <a:off x="4871270" y="1141852"/>
            <a:ext cx="1722686" cy="158204"/>
          </a:xfrm>
          <a:prstGeom prst="rect">
            <a:avLst/>
          </a:prstGeom>
          <a:noFill/>
          <a:ln/>
        </p:spPr>
        <p:txBody>
          <a:bodyPr wrap="none" lIns="0" tIns="0" rIns="0" bIns="0" rtlCol="0" anchor="t"/>
          <a:lstStyle/>
          <a:p>
            <a:pPr marL="0" indent="0" algn="ctr">
              <a:lnSpc>
                <a:spcPct val="104000"/>
              </a:lnSpc>
              <a:buNone/>
            </a:pPr>
            <a:r>
              <a:rPr lang="en-US" sz="950" dirty="0">
                <a:solidFill>
                  <a:srgbClr val="F5F0F0"/>
                </a:solidFill>
                <a:latin typeface="Merriweather" pitchFamily="34" charset="0"/>
                <a:ea typeface="Merriweather" pitchFamily="34" charset="-122"/>
                <a:cs typeface="Merriweather" pitchFamily="34" charset="-120"/>
              </a:rPr>
              <a:t>Execution Sequence</a:t>
            </a:r>
            <a:endParaRPr lang="en-US" sz="950" dirty="0"/>
          </a:p>
        </p:txBody>
      </p:sp>
      <p:pic>
        <p:nvPicPr>
          <p:cNvPr id="11" name="Image 0" descr="preencoded.png"/>
          <p:cNvPicPr>
            <a:picLocks noChangeAspect="1"/>
          </p:cNvPicPr>
          <p:nvPr/>
        </p:nvPicPr>
        <p:blipFill>
          <a:blip r:embed="rId3"/>
          <a:stretch>
            <a:fillRect/>
          </a:stretch>
        </p:blipFill>
        <p:spPr>
          <a:xfrm>
            <a:off x="5137882" y="1379860"/>
            <a:ext cx="506164" cy="607368"/>
          </a:xfrm>
          <a:prstGeom prst="rect">
            <a:avLst/>
          </a:prstGeom>
        </p:spPr>
      </p:pic>
      <p:sp>
        <p:nvSpPr>
          <p:cNvPr id="12" name="Text 9"/>
          <p:cNvSpPr/>
          <p:nvPr/>
        </p:nvSpPr>
        <p:spPr>
          <a:xfrm>
            <a:off x="5778320" y="1558410"/>
            <a:ext cx="1265486" cy="158204"/>
          </a:xfrm>
          <a:prstGeom prst="rect">
            <a:avLst/>
          </a:prstGeom>
          <a:noFill/>
          <a:ln/>
        </p:spPr>
        <p:txBody>
          <a:bodyPr wrap="none" lIns="0" tIns="0" rIns="0" bIns="0" rtlCol="0" anchor="t"/>
          <a:lstStyle/>
          <a:p>
            <a:pPr marL="0" indent="0" algn="l">
              <a:lnSpc>
                <a:spcPct val="104000"/>
              </a:lnSpc>
              <a:buNone/>
            </a:pPr>
            <a:r>
              <a:rPr lang="en-US" sz="950" dirty="0">
                <a:solidFill>
                  <a:srgbClr val="E2E6E9"/>
                </a:solidFill>
                <a:latin typeface="Merriweather" pitchFamily="34" charset="0"/>
                <a:ea typeface="Merriweather" pitchFamily="34" charset="-122"/>
                <a:cs typeface="Merriweather" pitchFamily="34" charset="-120"/>
              </a:rPr>
              <a:t>9 Source CSV Files</a:t>
            </a:r>
            <a:endParaRPr lang="en-US" sz="950" dirty="0"/>
          </a:p>
        </p:txBody>
      </p:sp>
      <p:pic>
        <p:nvPicPr>
          <p:cNvPr id="13" name="Image 1" descr="preencoded.png"/>
          <p:cNvPicPr>
            <a:picLocks noChangeAspect="1"/>
          </p:cNvPicPr>
          <p:nvPr/>
        </p:nvPicPr>
        <p:blipFill>
          <a:blip r:embed="rId4"/>
          <a:stretch>
            <a:fillRect/>
          </a:stretch>
        </p:blipFill>
        <p:spPr>
          <a:xfrm>
            <a:off x="5137882" y="1987228"/>
            <a:ext cx="506164" cy="607368"/>
          </a:xfrm>
          <a:prstGeom prst="rect">
            <a:avLst/>
          </a:prstGeom>
        </p:spPr>
      </p:pic>
      <p:sp>
        <p:nvSpPr>
          <p:cNvPr id="14" name="Text 10"/>
          <p:cNvSpPr/>
          <p:nvPr/>
        </p:nvSpPr>
        <p:spPr>
          <a:xfrm>
            <a:off x="5771606" y="2161645"/>
            <a:ext cx="1701105" cy="158204"/>
          </a:xfrm>
          <a:prstGeom prst="rect">
            <a:avLst/>
          </a:prstGeom>
          <a:noFill/>
          <a:ln/>
        </p:spPr>
        <p:txBody>
          <a:bodyPr wrap="none" lIns="0" tIns="0" rIns="0" bIns="0" rtlCol="0" anchor="t"/>
          <a:lstStyle/>
          <a:p>
            <a:pPr marL="0" indent="0" algn="l">
              <a:lnSpc>
                <a:spcPct val="104000"/>
              </a:lnSpc>
              <a:buNone/>
            </a:pPr>
            <a:r>
              <a:rPr lang="en-US" sz="950" dirty="0">
                <a:solidFill>
                  <a:srgbClr val="E2E6E9"/>
                </a:solidFill>
                <a:latin typeface="Merriweather" pitchFamily="34" charset="0"/>
                <a:ea typeface="Merriweather" pitchFamily="34" charset="-122"/>
                <a:cs typeface="Merriweather" pitchFamily="34" charset="-120"/>
              </a:rPr>
              <a:t>Power Query Normalization</a:t>
            </a:r>
            <a:endParaRPr lang="en-US" sz="950" dirty="0"/>
          </a:p>
        </p:txBody>
      </p:sp>
      <p:pic>
        <p:nvPicPr>
          <p:cNvPr id="15" name="Image 2" descr="preencoded.png"/>
          <p:cNvPicPr>
            <a:picLocks noChangeAspect="1"/>
          </p:cNvPicPr>
          <p:nvPr/>
        </p:nvPicPr>
        <p:blipFill>
          <a:blip r:embed="rId5"/>
          <a:stretch>
            <a:fillRect/>
          </a:stretch>
        </p:blipFill>
        <p:spPr>
          <a:xfrm>
            <a:off x="5137212" y="2571750"/>
            <a:ext cx="506164" cy="607368"/>
          </a:xfrm>
          <a:prstGeom prst="rect">
            <a:avLst/>
          </a:prstGeom>
        </p:spPr>
      </p:pic>
      <p:sp>
        <p:nvSpPr>
          <p:cNvPr id="16" name="Text 11"/>
          <p:cNvSpPr/>
          <p:nvPr/>
        </p:nvSpPr>
        <p:spPr>
          <a:xfrm>
            <a:off x="5776329" y="2736407"/>
            <a:ext cx="1333054" cy="158204"/>
          </a:xfrm>
          <a:prstGeom prst="rect">
            <a:avLst/>
          </a:prstGeom>
          <a:noFill/>
          <a:ln/>
        </p:spPr>
        <p:txBody>
          <a:bodyPr wrap="none" lIns="0" tIns="0" rIns="0" bIns="0" rtlCol="0" anchor="t"/>
          <a:lstStyle/>
          <a:p>
            <a:pPr marL="0" indent="0" algn="l">
              <a:lnSpc>
                <a:spcPct val="104000"/>
              </a:lnSpc>
              <a:buNone/>
            </a:pPr>
            <a:r>
              <a:rPr lang="en-US" sz="950" dirty="0">
                <a:solidFill>
                  <a:srgbClr val="E2E6E9"/>
                </a:solidFill>
                <a:latin typeface="Merriweather" pitchFamily="34" charset="0"/>
                <a:ea typeface="Merriweather" pitchFamily="34" charset="-122"/>
                <a:cs typeface="Merriweather" pitchFamily="34" charset="-120"/>
              </a:rPr>
              <a:t>Power BI Star Schema</a:t>
            </a:r>
            <a:endParaRPr lang="en-US" sz="950" dirty="0"/>
          </a:p>
        </p:txBody>
      </p:sp>
      <p:pic>
        <p:nvPicPr>
          <p:cNvPr id="17" name="Image 3" descr="preencoded.png"/>
          <p:cNvPicPr>
            <a:picLocks noChangeAspect="1"/>
          </p:cNvPicPr>
          <p:nvPr/>
        </p:nvPicPr>
        <p:blipFill>
          <a:blip r:embed="rId6"/>
          <a:stretch>
            <a:fillRect/>
          </a:stretch>
        </p:blipFill>
        <p:spPr>
          <a:xfrm>
            <a:off x="5136542" y="3156272"/>
            <a:ext cx="506164" cy="607368"/>
          </a:xfrm>
          <a:prstGeom prst="rect">
            <a:avLst/>
          </a:prstGeom>
        </p:spPr>
      </p:pic>
      <p:sp>
        <p:nvSpPr>
          <p:cNvPr id="18" name="Text 12"/>
          <p:cNvSpPr/>
          <p:nvPr/>
        </p:nvSpPr>
        <p:spPr>
          <a:xfrm>
            <a:off x="5778320" y="3343781"/>
            <a:ext cx="1296963" cy="158204"/>
          </a:xfrm>
          <a:prstGeom prst="rect">
            <a:avLst/>
          </a:prstGeom>
          <a:noFill/>
          <a:ln/>
        </p:spPr>
        <p:txBody>
          <a:bodyPr wrap="none" lIns="0" tIns="0" rIns="0" bIns="0" rtlCol="0" anchor="t"/>
          <a:lstStyle/>
          <a:p>
            <a:pPr marL="0" indent="0" algn="l">
              <a:lnSpc>
                <a:spcPct val="104000"/>
              </a:lnSpc>
              <a:buNone/>
            </a:pPr>
            <a:r>
              <a:rPr lang="en-US" sz="950" dirty="0">
                <a:solidFill>
                  <a:srgbClr val="E2E6E9"/>
                </a:solidFill>
                <a:latin typeface="Merriweather" pitchFamily="34" charset="0"/>
                <a:ea typeface="Merriweather" pitchFamily="34" charset="-122"/>
                <a:cs typeface="Merriweather" pitchFamily="34" charset="-120"/>
              </a:rPr>
              <a:t>Custom DAX Engines</a:t>
            </a:r>
            <a:endParaRPr lang="en-US" sz="950" dirty="0"/>
          </a:p>
        </p:txBody>
      </p:sp>
      <p:pic>
        <p:nvPicPr>
          <p:cNvPr id="19" name="Image 4" descr="preencoded.png"/>
          <p:cNvPicPr>
            <a:picLocks noChangeAspect="1"/>
          </p:cNvPicPr>
          <p:nvPr/>
        </p:nvPicPr>
        <p:blipFill>
          <a:blip r:embed="rId7"/>
          <a:stretch>
            <a:fillRect/>
          </a:stretch>
        </p:blipFill>
        <p:spPr>
          <a:xfrm>
            <a:off x="5135872" y="3740794"/>
            <a:ext cx="506164" cy="607368"/>
          </a:xfrm>
          <a:prstGeom prst="rect">
            <a:avLst/>
          </a:prstGeom>
        </p:spPr>
      </p:pic>
      <p:sp>
        <p:nvSpPr>
          <p:cNvPr id="20" name="Text 13"/>
          <p:cNvSpPr/>
          <p:nvPr/>
        </p:nvSpPr>
        <p:spPr>
          <a:xfrm>
            <a:off x="5758435" y="3833913"/>
            <a:ext cx="1671042" cy="158204"/>
          </a:xfrm>
          <a:prstGeom prst="rect">
            <a:avLst/>
          </a:prstGeom>
          <a:noFill/>
          <a:ln/>
        </p:spPr>
        <p:txBody>
          <a:bodyPr wrap="none" lIns="0" tIns="0" rIns="0" bIns="0" rtlCol="0" anchor="t"/>
          <a:lstStyle/>
          <a:p>
            <a:pPr marL="0" indent="0" algn="l">
              <a:lnSpc>
                <a:spcPct val="104000"/>
              </a:lnSpc>
              <a:buNone/>
            </a:pPr>
            <a:r>
              <a:rPr lang="en-US" sz="950" dirty="0">
                <a:solidFill>
                  <a:srgbClr val="E2E6E9"/>
                </a:solidFill>
                <a:latin typeface="Merriweather" pitchFamily="34" charset="0"/>
                <a:ea typeface="Merriweather" pitchFamily="34" charset="-122"/>
                <a:cs typeface="Merriweather" pitchFamily="34" charset="-120"/>
              </a:rPr>
              <a:t>3-Page Interactive Platform</a:t>
            </a:r>
            <a:endParaRPr lang="en-US" sz="950" dirty="0"/>
          </a:p>
        </p:txBody>
      </p:sp>
      <p:sp>
        <p:nvSpPr>
          <p:cNvPr id="21" name="Text 14"/>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25" name="TextBox 24">
            <a:extLst>
              <a:ext uri="{FF2B5EF4-FFF2-40B4-BE49-F238E27FC236}">
                <a16:creationId xmlns:a16="http://schemas.microsoft.com/office/drawing/2014/main" id="{A6BA7D41-149A-4F70-A8B6-644C489E3E80}"/>
              </a:ext>
            </a:extLst>
          </p:cNvPr>
          <p:cNvSpPr txBox="1"/>
          <p:nvPr/>
        </p:nvSpPr>
        <p:spPr>
          <a:xfrm>
            <a:off x="1182514" y="180452"/>
            <a:ext cx="6778972" cy="369332"/>
          </a:xfrm>
          <a:prstGeom prst="rect">
            <a:avLst/>
          </a:prstGeom>
          <a:noFill/>
        </p:spPr>
        <p:txBody>
          <a:bodyPr wrap="square" rtlCol="0">
            <a:spAutoFit/>
          </a:bodyPr>
          <a:lstStyle/>
          <a:p>
            <a:pPr algn="ctr"/>
            <a:r>
              <a:rPr lang="en-IN" dirty="0">
                <a:solidFill>
                  <a:srgbClr val="FF0000"/>
                </a:solidFill>
              </a:rPr>
              <a:t>Project Mandate: Root-Cause Diagnosis &amp; Capability Architecture</a:t>
            </a:r>
          </a:p>
        </p:txBody>
      </p:sp>
      <p:sp>
        <p:nvSpPr>
          <p:cNvPr id="26" name="Rectangle 25">
            <a:extLst>
              <a:ext uri="{FF2B5EF4-FFF2-40B4-BE49-F238E27FC236}">
                <a16:creationId xmlns:a16="http://schemas.microsoft.com/office/drawing/2014/main" id="{1B203126-0ECF-C898-5F60-39D96B0732AC}"/>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9874" y="1442889"/>
            <a:ext cx="2063279" cy="184547"/>
          </a:xfrm>
          <a:prstGeom prst="rect">
            <a:avLst/>
          </a:prstGeom>
          <a:noFill/>
          <a:ln/>
        </p:spPr>
        <p:txBody>
          <a:bodyPr wrap="none" lIns="0" tIns="0" rIns="0" bIns="0" rtlCol="0" anchor="t"/>
          <a:lstStyle/>
          <a:p>
            <a:pPr marL="0" indent="0" algn="l">
              <a:lnSpc>
                <a:spcPct val="104000"/>
              </a:lnSpc>
              <a:buNone/>
            </a:pPr>
            <a:r>
              <a:rPr lang="en-US" sz="1150" dirty="0">
                <a:solidFill>
                  <a:srgbClr val="F5F0F0"/>
                </a:solidFill>
                <a:latin typeface="Merriweather" pitchFamily="34" charset="0"/>
                <a:ea typeface="Merriweather" pitchFamily="34" charset="-122"/>
                <a:cs typeface="Merriweather" pitchFamily="34" charset="-120"/>
              </a:rPr>
              <a:t>Data Cleaning Pipeline</a:t>
            </a:r>
            <a:endParaRPr lang="en-US" sz="1150" dirty="0"/>
          </a:p>
        </p:txBody>
      </p:sp>
      <p:sp>
        <p:nvSpPr>
          <p:cNvPr id="4" name="Text 2"/>
          <p:cNvSpPr/>
          <p:nvPr/>
        </p:nvSpPr>
        <p:spPr>
          <a:xfrm>
            <a:off x="498425" y="2066478"/>
            <a:ext cx="2217539" cy="1523851"/>
          </a:xfrm>
          <a:prstGeom prst="rect">
            <a:avLst/>
          </a:prstGeom>
          <a:noFill/>
          <a:ln/>
        </p:spPr>
        <p:txBody>
          <a:bodyPr wrap="square" lIns="0" tIns="0" rIns="0" bIns="0" rtlCol="0" anchor="t">
            <a:noAutofit/>
          </a:bodyPr>
          <a:lstStyle/>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olist_orders_dataset — 98.2K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olist_order_items — 118.3K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olist_customers — 99.4K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olist_sellers — 3.1K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olist_products — 32.4K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olist_order_reviews — 99.4K rows</a:t>
            </a:r>
            <a:endParaRPr lang="en-US" sz="1000" dirty="0"/>
          </a:p>
          <a:p>
            <a:pPr marL="182880" indent="-182880" algn="l">
              <a:lnSpc>
                <a:spcPct val="118000"/>
              </a:lnSpc>
              <a:buSzPct val="100000"/>
              <a:buChar char="•"/>
            </a:pPr>
            <a:r>
              <a:rPr lang="en-US" sz="1000" dirty="0">
                <a:solidFill>
                  <a:srgbClr val="E2E6E9"/>
                </a:solidFill>
                <a:latin typeface="Merriweather" pitchFamily="34" charset="0"/>
                <a:ea typeface="Merriweather" pitchFamily="34" charset="-122"/>
                <a:cs typeface="Merriweather" pitchFamily="34" charset="-120"/>
              </a:rPr>
              <a:t>olist_order_payments — 103.8K rows</a:t>
            </a:r>
            <a:endParaRPr lang="en-US" sz="1000" dirty="0"/>
          </a:p>
        </p:txBody>
      </p:sp>
      <p:sp>
        <p:nvSpPr>
          <p:cNvPr id="5" name="Text 3"/>
          <p:cNvSpPr/>
          <p:nvPr/>
        </p:nvSpPr>
        <p:spPr>
          <a:xfrm>
            <a:off x="539874" y="3323034"/>
            <a:ext cx="2674739" cy="166762"/>
          </a:xfrm>
          <a:prstGeom prst="rect">
            <a:avLst/>
          </a:prstGeom>
          <a:noFill/>
          <a:ln/>
        </p:spPr>
        <p:txBody>
          <a:bodyPr wrap="none" lIns="0" tIns="0" rIns="0" bIns="0" rtlCol="0" anchor="t"/>
          <a:lstStyle/>
          <a:p>
            <a:pPr marL="0" indent="0" algn="l">
              <a:lnSpc>
                <a:spcPct val="118000"/>
              </a:lnSpc>
              <a:buNone/>
            </a:pPr>
            <a:endParaRPr lang="en-US" sz="900" dirty="0"/>
          </a:p>
        </p:txBody>
      </p:sp>
      <p:sp>
        <p:nvSpPr>
          <p:cNvPr id="6" name="Text 4"/>
          <p:cNvSpPr/>
          <p:nvPr/>
        </p:nvSpPr>
        <p:spPr>
          <a:xfrm>
            <a:off x="3050307" y="1442889"/>
            <a:ext cx="2432075" cy="184547"/>
          </a:xfrm>
          <a:prstGeom prst="rect">
            <a:avLst/>
          </a:prstGeom>
          <a:noFill/>
          <a:ln/>
        </p:spPr>
        <p:txBody>
          <a:bodyPr wrap="none" lIns="0" tIns="0" rIns="0" bIns="0" rtlCol="0" anchor="t"/>
          <a:lstStyle/>
          <a:p>
            <a:pPr marL="0" indent="0" algn="l">
              <a:lnSpc>
                <a:spcPct val="104000"/>
              </a:lnSpc>
              <a:buNone/>
            </a:pPr>
            <a:r>
              <a:rPr lang="en-US" sz="1150" dirty="0">
                <a:solidFill>
                  <a:srgbClr val="F5F0F0"/>
                </a:solidFill>
                <a:latin typeface="Merriweather" pitchFamily="34" charset="0"/>
                <a:ea typeface="Merriweather" pitchFamily="34" charset="-122"/>
                <a:cs typeface="Merriweather" pitchFamily="34" charset="-120"/>
              </a:rPr>
              <a:t>Pivot Tables &amp; Key Findings</a:t>
            </a:r>
            <a:endParaRPr lang="en-US" sz="1150" dirty="0"/>
          </a:p>
        </p:txBody>
      </p:sp>
      <p:sp>
        <p:nvSpPr>
          <p:cNvPr id="7" name="Shape 5"/>
          <p:cNvSpPr/>
          <p:nvPr/>
        </p:nvSpPr>
        <p:spPr>
          <a:xfrm>
            <a:off x="3050307" y="1729160"/>
            <a:ext cx="5558507" cy="2598762"/>
          </a:xfrm>
          <a:prstGeom prst="roundRect">
            <a:avLst>
              <a:gd name="adj" fmla="val 1909"/>
            </a:avLst>
          </a:prstGeom>
          <a:noFill/>
          <a:ln w="4763">
            <a:solidFill>
              <a:srgbClr val="FFFFFF">
                <a:alpha val="24000"/>
              </a:srgbClr>
            </a:solidFill>
            <a:prstDash val="solid"/>
          </a:ln>
        </p:spPr>
      </p:sp>
      <p:sp>
        <p:nvSpPr>
          <p:cNvPr id="8" name="Text 6"/>
          <p:cNvSpPr/>
          <p:nvPr/>
        </p:nvSpPr>
        <p:spPr>
          <a:xfrm>
            <a:off x="3173313" y="1792932"/>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Pivot #</a:t>
            </a:r>
            <a:endParaRPr lang="en-US" sz="700" dirty="0"/>
          </a:p>
        </p:txBody>
      </p:sp>
      <p:sp>
        <p:nvSpPr>
          <p:cNvPr id="9" name="Text 7"/>
          <p:cNvSpPr/>
          <p:nvPr/>
        </p:nvSpPr>
        <p:spPr>
          <a:xfrm>
            <a:off x="3952503" y="1792932"/>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Metric</a:t>
            </a:r>
            <a:endParaRPr lang="en-US" sz="700" dirty="0"/>
          </a:p>
        </p:txBody>
      </p:sp>
      <p:sp>
        <p:nvSpPr>
          <p:cNvPr id="10" name="Text 8"/>
          <p:cNvSpPr/>
          <p:nvPr/>
        </p:nvSpPr>
        <p:spPr>
          <a:xfrm>
            <a:off x="6283003" y="1792932"/>
            <a:ext cx="2660154"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Detailed Metrics</a:t>
            </a:r>
            <a:endParaRPr lang="en-US" sz="700" dirty="0"/>
          </a:p>
        </p:txBody>
      </p:sp>
      <p:sp>
        <p:nvSpPr>
          <p:cNvPr id="11" name="Text 9"/>
          <p:cNvSpPr/>
          <p:nvPr/>
        </p:nvSpPr>
        <p:spPr>
          <a:xfrm>
            <a:off x="3173313" y="2049140"/>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PT1</a:t>
            </a:r>
            <a:endParaRPr lang="en-US" sz="700" dirty="0"/>
          </a:p>
        </p:txBody>
      </p:sp>
      <p:sp>
        <p:nvSpPr>
          <p:cNvPr id="12" name="Text 10"/>
          <p:cNvSpPr/>
          <p:nvPr/>
        </p:nvSpPr>
        <p:spPr>
          <a:xfrm>
            <a:off x="3952503" y="2049140"/>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Revenue by Region</a:t>
            </a:r>
            <a:endParaRPr lang="en-US" sz="700" dirty="0"/>
          </a:p>
        </p:txBody>
      </p:sp>
      <p:sp>
        <p:nvSpPr>
          <p:cNvPr id="13" name="Text 11"/>
          <p:cNvSpPr/>
          <p:nvPr/>
        </p:nvSpPr>
        <p:spPr>
          <a:xfrm>
            <a:off x="6283003" y="2049140"/>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São Paulo ₹2.27M (13.8%), Rio De Janeiro ₹1.20M (7.2%), Bottom regions &lt;₹0.1M</a:t>
            </a:r>
            <a:endParaRPr lang="en-US" sz="700" dirty="0"/>
          </a:p>
        </p:txBody>
      </p:sp>
      <p:sp>
        <p:nvSpPr>
          <p:cNvPr id="14" name="Text 12"/>
          <p:cNvSpPr/>
          <p:nvPr/>
        </p:nvSpPr>
        <p:spPr>
          <a:xfrm>
            <a:off x="3173313" y="2438772"/>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PT2</a:t>
            </a:r>
            <a:endParaRPr lang="en-US" sz="700" dirty="0"/>
          </a:p>
        </p:txBody>
      </p:sp>
      <p:sp>
        <p:nvSpPr>
          <p:cNvPr id="15" name="Text 13"/>
          <p:cNvSpPr/>
          <p:nvPr/>
        </p:nvSpPr>
        <p:spPr>
          <a:xfrm>
            <a:off x="3952503" y="2438772"/>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Delivery Delay by Region</a:t>
            </a:r>
            <a:endParaRPr lang="en-US" sz="700" dirty="0"/>
          </a:p>
        </p:txBody>
      </p:sp>
      <p:sp>
        <p:nvSpPr>
          <p:cNvPr id="16" name="Text 14"/>
          <p:cNvSpPr/>
          <p:nvPr/>
        </p:nvSpPr>
        <p:spPr>
          <a:xfrm>
            <a:off x="6283003" y="2438772"/>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Novo Brasil,ES 126 days, Capinzal Do Norte,MA 78 days, Network avg -11.13 days</a:t>
            </a:r>
            <a:endParaRPr lang="en-US" sz="700" dirty="0"/>
          </a:p>
        </p:txBody>
      </p:sp>
      <p:sp>
        <p:nvSpPr>
          <p:cNvPr id="17" name="Text 15"/>
          <p:cNvSpPr/>
          <p:nvPr/>
        </p:nvSpPr>
        <p:spPr>
          <a:xfrm>
            <a:off x="3173313" y="2828404"/>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PT3</a:t>
            </a:r>
            <a:endParaRPr lang="en-US" sz="700" dirty="0"/>
          </a:p>
        </p:txBody>
      </p:sp>
      <p:sp>
        <p:nvSpPr>
          <p:cNvPr id="18" name="Text 16"/>
          <p:cNvSpPr/>
          <p:nvPr/>
        </p:nvSpPr>
        <p:spPr>
          <a:xfrm>
            <a:off x="3952503" y="2828404"/>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Category Performance</a:t>
            </a:r>
            <a:endParaRPr lang="en-US" sz="700" dirty="0"/>
          </a:p>
        </p:txBody>
      </p:sp>
      <p:sp>
        <p:nvSpPr>
          <p:cNvPr id="19" name="Text 17"/>
          <p:cNvSpPr/>
          <p:nvPr/>
        </p:nvSpPr>
        <p:spPr>
          <a:xfrm>
            <a:off x="6283003" y="2828404"/>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Beauty &amp; Health ₹1.49M top, Phones 50.54% freight highest, Bed &amp; Bath 3.89 lowest review</a:t>
            </a:r>
            <a:endParaRPr lang="en-US" sz="700" dirty="0"/>
          </a:p>
        </p:txBody>
      </p:sp>
      <p:sp>
        <p:nvSpPr>
          <p:cNvPr id="20" name="Text 18"/>
          <p:cNvSpPr/>
          <p:nvPr/>
        </p:nvSpPr>
        <p:spPr>
          <a:xfrm>
            <a:off x="3173313" y="3218036"/>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PT4</a:t>
            </a:r>
            <a:endParaRPr lang="en-US" sz="700" dirty="0"/>
          </a:p>
        </p:txBody>
      </p:sp>
      <p:sp>
        <p:nvSpPr>
          <p:cNvPr id="21" name="Text 19"/>
          <p:cNvSpPr/>
          <p:nvPr/>
        </p:nvSpPr>
        <p:spPr>
          <a:xfrm>
            <a:off x="3952503" y="3218036"/>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Monthly Revenue Trend</a:t>
            </a:r>
            <a:endParaRPr lang="en-US" sz="700" dirty="0"/>
          </a:p>
        </p:txBody>
      </p:sp>
      <p:sp>
        <p:nvSpPr>
          <p:cNvPr id="22" name="Text 20"/>
          <p:cNvSpPr/>
          <p:nvPr/>
        </p:nvSpPr>
        <p:spPr>
          <a:xfrm>
            <a:off x="6283003" y="3218036"/>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2016 ₹53K, 2017 ₹7.51M, 2018 ₹8.96M, Growth 168x in 2 years</a:t>
            </a:r>
            <a:endParaRPr lang="en-US" sz="700" dirty="0"/>
          </a:p>
        </p:txBody>
      </p:sp>
      <p:sp>
        <p:nvSpPr>
          <p:cNvPr id="23" name="Text 21"/>
          <p:cNvSpPr/>
          <p:nvPr/>
        </p:nvSpPr>
        <p:spPr>
          <a:xfrm>
            <a:off x="3173313" y="3607668"/>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PT5</a:t>
            </a:r>
            <a:endParaRPr lang="en-US" sz="700" dirty="0"/>
          </a:p>
        </p:txBody>
      </p:sp>
      <p:sp>
        <p:nvSpPr>
          <p:cNvPr id="24" name="Text 22"/>
          <p:cNvSpPr/>
          <p:nvPr/>
        </p:nvSpPr>
        <p:spPr>
          <a:xfrm>
            <a:off x="3952503" y="3607668"/>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Seller Performance</a:t>
            </a:r>
            <a:endParaRPr lang="en-US" sz="700" dirty="0"/>
          </a:p>
        </p:txBody>
      </p:sp>
      <p:sp>
        <p:nvSpPr>
          <p:cNvPr id="25" name="Text 23"/>
          <p:cNvSpPr/>
          <p:nvPr/>
        </p:nvSpPr>
        <p:spPr>
          <a:xfrm>
            <a:off x="6283003" y="3607668"/>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Feira De Santana,BA 33.67 days worst delay, Portoferreira,SP 1.0 score worst review</a:t>
            </a:r>
            <a:endParaRPr lang="en-US" sz="700" dirty="0"/>
          </a:p>
        </p:txBody>
      </p:sp>
      <p:sp>
        <p:nvSpPr>
          <p:cNvPr id="26" name="Text 24"/>
          <p:cNvSpPr/>
          <p:nvPr/>
        </p:nvSpPr>
        <p:spPr>
          <a:xfrm>
            <a:off x="3173313" y="3997300"/>
            <a:ext cx="99543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PT6</a:t>
            </a:r>
            <a:endParaRPr lang="en-US" sz="700" dirty="0"/>
          </a:p>
        </p:txBody>
      </p:sp>
      <p:sp>
        <p:nvSpPr>
          <p:cNvPr id="27" name="Text 25"/>
          <p:cNvSpPr/>
          <p:nvPr/>
        </p:nvSpPr>
        <p:spPr>
          <a:xfrm>
            <a:off x="3952503" y="3997300"/>
            <a:ext cx="2546747" cy="133424"/>
          </a:xfrm>
          <a:prstGeom prst="rect">
            <a:avLst/>
          </a:prstGeom>
          <a:noFill/>
          <a:ln/>
        </p:spPr>
        <p:txBody>
          <a:bodyPr wrap="none" lIns="0" tIns="0" rIns="0" bIns="0" rtlCol="0" anchor="t"/>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Payment Analysis</a:t>
            </a:r>
            <a:endParaRPr lang="en-US" sz="700" dirty="0"/>
          </a:p>
        </p:txBody>
      </p:sp>
      <p:sp>
        <p:nvSpPr>
          <p:cNvPr id="28" name="Text 26"/>
          <p:cNvSpPr/>
          <p:nvPr/>
        </p:nvSpPr>
        <p:spPr>
          <a:xfrm>
            <a:off x="6283003" y="3997300"/>
            <a:ext cx="2202954" cy="266849"/>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E2E6E9"/>
                </a:solidFill>
                <a:latin typeface="Merriweather" pitchFamily="34" charset="0"/>
                <a:ea typeface="Merriweather" pitchFamily="34" charset="-122"/>
                <a:cs typeface="Merriweather" pitchFamily="34" charset="-120"/>
              </a:rPr>
              <a:t>Credit Card 67.2% = ₹12.78M, Total payments ₹20.42M</a:t>
            </a:r>
            <a:endParaRPr lang="en-US" sz="700" dirty="0"/>
          </a:p>
        </p:txBody>
      </p:sp>
      <p:sp>
        <p:nvSpPr>
          <p:cNvPr id="31" name="Text 14">
            <a:extLst>
              <a:ext uri="{FF2B5EF4-FFF2-40B4-BE49-F238E27FC236}">
                <a16:creationId xmlns:a16="http://schemas.microsoft.com/office/drawing/2014/main" id="{8C678C7B-2BC3-1EF6-A012-736184249F9C}"/>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33" name="Rectangle 32">
            <a:extLst>
              <a:ext uri="{FF2B5EF4-FFF2-40B4-BE49-F238E27FC236}">
                <a16:creationId xmlns:a16="http://schemas.microsoft.com/office/drawing/2014/main" id="{B3EDC841-20F8-4CF3-EA2A-7617161C8EEA}"/>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E7768575-F46F-BE48-E72A-8DAAB8CB2F99}"/>
              </a:ext>
            </a:extLst>
          </p:cNvPr>
          <p:cNvSpPr txBox="1"/>
          <p:nvPr/>
        </p:nvSpPr>
        <p:spPr>
          <a:xfrm>
            <a:off x="1182514" y="533634"/>
            <a:ext cx="6778972" cy="369332"/>
          </a:xfrm>
          <a:prstGeom prst="rect">
            <a:avLst/>
          </a:prstGeom>
          <a:noFill/>
        </p:spPr>
        <p:txBody>
          <a:bodyPr wrap="square" rtlCol="0">
            <a:spAutoFit/>
          </a:bodyPr>
          <a:lstStyle/>
          <a:p>
            <a:pPr algn="ctr"/>
            <a:r>
              <a:rPr lang="en-IN" dirty="0">
                <a:solidFill>
                  <a:srgbClr val="FF0000"/>
                </a:solidFill>
              </a:rPr>
              <a:t>Data Cleaning and Preparation — Excel Power Query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52376" y="318454"/>
            <a:ext cx="4387751" cy="278681"/>
          </a:xfrm>
          <a:prstGeom prst="rect">
            <a:avLst/>
          </a:prstGeom>
          <a:noFill/>
          <a:ln/>
        </p:spPr>
        <p:txBody>
          <a:bodyPr wrap="none" lIns="0" tIns="0" rIns="0" bIns="0" rtlCol="0" anchor="t"/>
          <a:lstStyle/>
          <a:p>
            <a:pPr marL="0" indent="0" algn="ctr">
              <a:lnSpc>
                <a:spcPct val="104000"/>
              </a:lnSpc>
              <a:buNone/>
            </a:pPr>
            <a:endParaRPr lang="en-US" sz="1750" dirty="0"/>
          </a:p>
        </p:txBody>
      </p:sp>
      <p:pic>
        <p:nvPicPr>
          <p:cNvPr id="3" name="Image 0" descr="preencoded.png"/>
          <p:cNvPicPr>
            <a:picLocks noChangeAspect="1"/>
          </p:cNvPicPr>
          <p:nvPr/>
        </p:nvPicPr>
        <p:blipFill>
          <a:blip r:embed="rId3"/>
          <a:stretch>
            <a:fillRect/>
          </a:stretch>
        </p:blipFill>
        <p:spPr>
          <a:xfrm>
            <a:off x="568226" y="839539"/>
            <a:ext cx="7986493" cy="2749270"/>
          </a:xfrm>
          <a:prstGeom prst="rect">
            <a:avLst/>
          </a:prstGeom>
        </p:spPr>
      </p:pic>
      <p:sp>
        <p:nvSpPr>
          <p:cNvPr id="4" name="Text 1"/>
          <p:cNvSpPr/>
          <p:nvPr/>
        </p:nvSpPr>
        <p:spPr>
          <a:xfrm>
            <a:off x="311274" y="3577158"/>
            <a:ext cx="8521452" cy="112588"/>
          </a:xfrm>
          <a:prstGeom prst="rect">
            <a:avLst/>
          </a:prstGeom>
          <a:noFill/>
          <a:ln/>
        </p:spPr>
        <p:txBody>
          <a:bodyPr wrap="none" lIns="0" tIns="0" rIns="0" bIns="0" rtlCol="0" anchor="t"/>
          <a:lstStyle/>
          <a:p>
            <a:pPr marL="0" indent="0" algn="ctr">
              <a:lnSpc>
                <a:spcPct val="105000"/>
              </a:lnSpc>
              <a:buNone/>
            </a:pPr>
            <a:endParaRPr lang="en-US" sz="700" dirty="0"/>
          </a:p>
        </p:txBody>
      </p:sp>
      <p:sp>
        <p:nvSpPr>
          <p:cNvPr id="5" name="Shape 2"/>
          <p:cNvSpPr/>
          <p:nvPr/>
        </p:nvSpPr>
        <p:spPr>
          <a:xfrm>
            <a:off x="539874" y="3747715"/>
            <a:ext cx="1977405" cy="619423"/>
          </a:xfrm>
          <a:prstGeom prst="roundRect">
            <a:avLst>
              <a:gd name="adj" fmla="val 6047"/>
            </a:avLst>
          </a:prstGeom>
          <a:solidFill>
            <a:srgbClr val="09151A">
              <a:alpha val="95000"/>
            </a:srgbClr>
          </a:solidFill>
          <a:ln w="9525">
            <a:solidFill>
              <a:srgbClr val="194A99"/>
            </a:solidFill>
            <a:prstDash val="solid"/>
          </a:ln>
        </p:spPr>
      </p:sp>
      <p:sp>
        <p:nvSpPr>
          <p:cNvPr id="6" name="Text 3"/>
          <p:cNvSpPr/>
          <p:nvPr/>
        </p:nvSpPr>
        <p:spPr>
          <a:xfrm>
            <a:off x="638547" y="3846388"/>
            <a:ext cx="1184449" cy="139303"/>
          </a:xfrm>
          <a:prstGeom prst="rect">
            <a:avLst/>
          </a:prstGeom>
          <a:noFill/>
          <a:ln/>
        </p:spPr>
        <p:txBody>
          <a:bodyPr wrap="none" lIns="0" tIns="0" rIns="0" bIns="0" rtlCol="0" anchor="t"/>
          <a:lstStyle/>
          <a:p>
            <a:pPr marL="0" indent="0" algn="l">
              <a:lnSpc>
                <a:spcPct val="104000"/>
              </a:lnSpc>
              <a:buNone/>
            </a:pPr>
            <a:r>
              <a:rPr lang="en-US" sz="850" dirty="0">
                <a:solidFill>
                  <a:srgbClr val="E2E6E9"/>
                </a:solidFill>
                <a:latin typeface="Merriweather" pitchFamily="34" charset="0"/>
                <a:ea typeface="Merriweather" pitchFamily="34" charset="-122"/>
                <a:cs typeface="Merriweather" pitchFamily="34" charset="-120"/>
              </a:rPr>
              <a:t>6 Active Relationships</a:t>
            </a:r>
            <a:endParaRPr lang="en-US" sz="850" dirty="0"/>
          </a:p>
        </p:txBody>
      </p:sp>
      <p:sp>
        <p:nvSpPr>
          <p:cNvPr id="7" name="Text 4"/>
          <p:cNvSpPr/>
          <p:nvPr/>
        </p:nvSpPr>
        <p:spPr>
          <a:xfrm>
            <a:off x="638547" y="4016573"/>
            <a:ext cx="1780059" cy="112588"/>
          </a:xfrm>
          <a:prstGeom prst="rect">
            <a:avLst/>
          </a:prstGeom>
          <a:noFill/>
          <a:ln/>
        </p:spPr>
        <p:txBody>
          <a:bodyPr wrap="none" lIns="0" tIns="0" rIns="0" bIns="0" rtlCol="0" anchor="t"/>
          <a:lstStyle/>
          <a:p>
            <a:pPr marL="0" indent="0" algn="l">
              <a:lnSpc>
                <a:spcPct val="105000"/>
              </a:lnSpc>
              <a:buNone/>
            </a:pPr>
            <a:r>
              <a:rPr lang="en-US" sz="700" dirty="0">
                <a:solidFill>
                  <a:srgbClr val="E2E6E9"/>
                </a:solidFill>
                <a:latin typeface="Merriweather" pitchFamily="34" charset="0"/>
                <a:ea typeface="Merriweather" pitchFamily="34" charset="-122"/>
                <a:cs typeface="Merriweather" pitchFamily="34" charset="-120"/>
              </a:rPr>
              <a:t>Connected all tables One-to-Many</a:t>
            </a:r>
            <a:endParaRPr lang="en-US" sz="700" dirty="0"/>
          </a:p>
        </p:txBody>
      </p:sp>
      <p:sp>
        <p:nvSpPr>
          <p:cNvPr id="8" name="Shape 5"/>
          <p:cNvSpPr/>
          <p:nvPr/>
        </p:nvSpPr>
        <p:spPr>
          <a:xfrm>
            <a:off x="2568773" y="3727361"/>
            <a:ext cx="1977479" cy="619423"/>
          </a:xfrm>
          <a:prstGeom prst="roundRect">
            <a:avLst>
              <a:gd name="adj" fmla="val 6047"/>
            </a:avLst>
          </a:prstGeom>
          <a:solidFill>
            <a:srgbClr val="09151A">
              <a:alpha val="95000"/>
            </a:srgbClr>
          </a:solidFill>
          <a:ln w="9525">
            <a:solidFill>
              <a:srgbClr val="194A99"/>
            </a:solidFill>
            <a:prstDash val="solid"/>
          </a:ln>
        </p:spPr>
      </p:sp>
      <p:sp>
        <p:nvSpPr>
          <p:cNvPr id="9" name="Text 6"/>
          <p:cNvSpPr/>
          <p:nvPr/>
        </p:nvSpPr>
        <p:spPr>
          <a:xfrm>
            <a:off x="2667446" y="3846388"/>
            <a:ext cx="1354708" cy="139303"/>
          </a:xfrm>
          <a:prstGeom prst="rect">
            <a:avLst/>
          </a:prstGeom>
          <a:noFill/>
          <a:ln/>
        </p:spPr>
        <p:txBody>
          <a:bodyPr wrap="none" lIns="0" tIns="0" rIns="0" bIns="0" rtlCol="0" anchor="t"/>
          <a:lstStyle/>
          <a:p>
            <a:pPr marL="0" indent="0" algn="l">
              <a:lnSpc>
                <a:spcPct val="104000"/>
              </a:lnSpc>
              <a:buNone/>
            </a:pPr>
            <a:r>
              <a:rPr lang="en-US" sz="850" dirty="0">
                <a:solidFill>
                  <a:srgbClr val="E2E6E9"/>
                </a:solidFill>
                <a:latin typeface="Merriweather" pitchFamily="34" charset="0"/>
                <a:ea typeface="Merriweather" pitchFamily="34" charset="-122"/>
                <a:cs typeface="Merriweather" pitchFamily="34" charset="-120"/>
              </a:rPr>
              <a:t>Many-to-One Cardinality</a:t>
            </a:r>
            <a:endParaRPr lang="en-US" sz="850" dirty="0"/>
          </a:p>
        </p:txBody>
      </p:sp>
      <p:sp>
        <p:nvSpPr>
          <p:cNvPr id="10" name="Text 7"/>
          <p:cNvSpPr/>
          <p:nvPr/>
        </p:nvSpPr>
        <p:spPr>
          <a:xfrm>
            <a:off x="2667446" y="4016573"/>
            <a:ext cx="1780133" cy="112588"/>
          </a:xfrm>
          <a:prstGeom prst="rect">
            <a:avLst/>
          </a:prstGeom>
          <a:noFill/>
          <a:ln/>
        </p:spPr>
        <p:txBody>
          <a:bodyPr wrap="none" lIns="0" tIns="0" rIns="0" bIns="0" rtlCol="0" anchor="t"/>
          <a:lstStyle/>
          <a:p>
            <a:pPr marL="0" indent="0" algn="l">
              <a:lnSpc>
                <a:spcPct val="105000"/>
              </a:lnSpc>
              <a:buNone/>
            </a:pPr>
            <a:r>
              <a:rPr lang="en-US" sz="700" dirty="0">
                <a:solidFill>
                  <a:srgbClr val="E2E6E9"/>
                </a:solidFill>
                <a:latin typeface="Merriweather" pitchFamily="34" charset="0"/>
                <a:ea typeface="Merriweather" pitchFamily="34" charset="-122"/>
                <a:cs typeface="Merriweather" pitchFamily="34" charset="-120"/>
              </a:rPr>
              <a:t>All relationships correctly set</a:t>
            </a:r>
            <a:endParaRPr lang="en-US" sz="700" dirty="0"/>
          </a:p>
        </p:txBody>
      </p:sp>
      <p:sp>
        <p:nvSpPr>
          <p:cNvPr id="11" name="Shape 8"/>
          <p:cNvSpPr/>
          <p:nvPr/>
        </p:nvSpPr>
        <p:spPr>
          <a:xfrm>
            <a:off x="4597747" y="3727362"/>
            <a:ext cx="1977405" cy="619423"/>
          </a:xfrm>
          <a:prstGeom prst="roundRect">
            <a:avLst>
              <a:gd name="adj" fmla="val 6047"/>
            </a:avLst>
          </a:prstGeom>
          <a:solidFill>
            <a:srgbClr val="09151A">
              <a:alpha val="95000"/>
            </a:srgbClr>
          </a:solidFill>
          <a:ln w="9525">
            <a:solidFill>
              <a:srgbClr val="194A99"/>
            </a:solidFill>
            <a:prstDash val="solid"/>
          </a:ln>
        </p:spPr>
      </p:sp>
      <p:sp>
        <p:nvSpPr>
          <p:cNvPr id="12" name="Text 9"/>
          <p:cNvSpPr/>
          <p:nvPr/>
        </p:nvSpPr>
        <p:spPr>
          <a:xfrm>
            <a:off x="4696420" y="3846388"/>
            <a:ext cx="1780059" cy="278606"/>
          </a:xfrm>
          <a:prstGeom prst="rect">
            <a:avLst/>
          </a:prstGeom>
          <a:noFill/>
          <a:ln/>
        </p:spPr>
        <p:txBody>
          <a:bodyPr wrap="square" lIns="0" tIns="0" rIns="0" bIns="0" rtlCol="0" anchor="t">
            <a:normAutofit/>
          </a:bodyPr>
          <a:lstStyle/>
          <a:p>
            <a:pPr marL="0" indent="0" algn="l">
              <a:lnSpc>
                <a:spcPct val="104000"/>
              </a:lnSpc>
              <a:buNone/>
            </a:pPr>
            <a:r>
              <a:rPr lang="en-US" sz="850" dirty="0">
                <a:solidFill>
                  <a:srgbClr val="E2E6E9"/>
                </a:solidFill>
                <a:latin typeface="Merriweather" pitchFamily="34" charset="0"/>
                <a:ea typeface="Merriweather" pitchFamily="34" charset="-122"/>
                <a:cs typeface="Merriweather" pitchFamily="34" charset="-120"/>
              </a:rPr>
              <a:t>FactOrders_Clean Central Fact Table</a:t>
            </a:r>
            <a:endParaRPr lang="en-US" sz="850" dirty="0"/>
          </a:p>
        </p:txBody>
      </p:sp>
      <p:sp>
        <p:nvSpPr>
          <p:cNvPr id="13" name="Text 10"/>
          <p:cNvSpPr/>
          <p:nvPr/>
        </p:nvSpPr>
        <p:spPr>
          <a:xfrm>
            <a:off x="4696420" y="4155877"/>
            <a:ext cx="1780059" cy="112588"/>
          </a:xfrm>
          <a:prstGeom prst="rect">
            <a:avLst/>
          </a:prstGeom>
          <a:noFill/>
          <a:ln/>
        </p:spPr>
        <p:txBody>
          <a:bodyPr wrap="none" lIns="0" tIns="0" rIns="0" bIns="0" rtlCol="0" anchor="t"/>
          <a:lstStyle/>
          <a:p>
            <a:pPr marL="0" indent="0" algn="l">
              <a:lnSpc>
                <a:spcPct val="105000"/>
              </a:lnSpc>
              <a:buNone/>
            </a:pPr>
            <a:r>
              <a:rPr lang="en-US" sz="700" dirty="0">
                <a:solidFill>
                  <a:srgbClr val="E2E6E9"/>
                </a:solidFill>
                <a:latin typeface="Merriweather" pitchFamily="34" charset="0"/>
                <a:ea typeface="Merriweather" pitchFamily="34" charset="-122"/>
                <a:cs typeface="Merriweather" pitchFamily="34" charset="-120"/>
              </a:rPr>
              <a:t>118,310 rows</a:t>
            </a:r>
            <a:endParaRPr lang="en-US" sz="700" dirty="0"/>
          </a:p>
        </p:txBody>
      </p:sp>
      <p:sp>
        <p:nvSpPr>
          <p:cNvPr id="14" name="Shape 11"/>
          <p:cNvSpPr/>
          <p:nvPr/>
        </p:nvSpPr>
        <p:spPr>
          <a:xfrm>
            <a:off x="6673825" y="3713362"/>
            <a:ext cx="1977479" cy="619423"/>
          </a:xfrm>
          <a:prstGeom prst="roundRect">
            <a:avLst>
              <a:gd name="adj" fmla="val 6047"/>
            </a:avLst>
          </a:prstGeom>
          <a:solidFill>
            <a:srgbClr val="09151A">
              <a:alpha val="95000"/>
            </a:srgbClr>
          </a:solidFill>
          <a:ln w="9525">
            <a:solidFill>
              <a:srgbClr val="194A99"/>
            </a:solidFill>
            <a:prstDash val="solid"/>
          </a:ln>
        </p:spPr>
      </p:sp>
      <p:sp>
        <p:nvSpPr>
          <p:cNvPr id="15" name="Text 12"/>
          <p:cNvSpPr/>
          <p:nvPr/>
        </p:nvSpPr>
        <p:spPr>
          <a:xfrm>
            <a:off x="6725320" y="3846388"/>
            <a:ext cx="1114797" cy="139303"/>
          </a:xfrm>
          <a:prstGeom prst="rect">
            <a:avLst/>
          </a:prstGeom>
          <a:noFill/>
          <a:ln/>
        </p:spPr>
        <p:txBody>
          <a:bodyPr wrap="none" lIns="0" tIns="0" rIns="0" bIns="0" rtlCol="0" anchor="t"/>
          <a:lstStyle/>
          <a:p>
            <a:pPr marL="0" indent="0" algn="l">
              <a:lnSpc>
                <a:spcPct val="104000"/>
              </a:lnSpc>
              <a:buNone/>
            </a:pPr>
            <a:r>
              <a:rPr lang="en-US" sz="850" dirty="0">
                <a:solidFill>
                  <a:srgbClr val="E2E6E9"/>
                </a:solidFill>
                <a:latin typeface="Merriweather" pitchFamily="34" charset="0"/>
                <a:ea typeface="Merriweather" pitchFamily="34" charset="-122"/>
                <a:cs typeface="Merriweather" pitchFamily="34" charset="-120"/>
              </a:rPr>
              <a:t>9 DAX Measures</a:t>
            </a:r>
            <a:endParaRPr lang="en-US" sz="850" dirty="0"/>
          </a:p>
        </p:txBody>
      </p:sp>
      <p:sp>
        <p:nvSpPr>
          <p:cNvPr id="16" name="Text 13"/>
          <p:cNvSpPr/>
          <p:nvPr/>
        </p:nvSpPr>
        <p:spPr>
          <a:xfrm>
            <a:off x="6725320" y="4016573"/>
            <a:ext cx="1780133" cy="112588"/>
          </a:xfrm>
          <a:prstGeom prst="rect">
            <a:avLst/>
          </a:prstGeom>
          <a:noFill/>
          <a:ln/>
        </p:spPr>
        <p:txBody>
          <a:bodyPr wrap="none" lIns="0" tIns="0" rIns="0" bIns="0" rtlCol="0" anchor="t"/>
          <a:lstStyle/>
          <a:p>
            <a:pPr marL="0" indent="0" algn="l">
              <a:lnSpc>
                <a:spcPct val="105000"/>
              </a:lnSpc>
              <a:buNone/>
            </a:pPr>
            <a:r>
              <a:rPr lang="en-US" sz="700" dirty="0">
                <a:solidFill>
                  <a:srgbClr val="E2E6E9"/>
                </a:solidFill>
                <a:latin typeface="Merriweather" pitchFamily="34" charset="0"/>
                <a:ea typeface="Merriweather" pitchFamily="34" charset="-122"/>
                <a:cs typeface="Merriweather" pitchFamily="34" charset="-120"/>
              </a:rPr>
              <a:t>Written from scratch</a:t>
            </a:r>
            <a:endParaRPr lang="en-US" sz="700" dirty="0"/>
          </a:p>
        </p:txBody>
      </p:sp>
      <p:sp>
        <p:nvSpPr>
          <p:cNvPr id="17" name="Text 14"/>
          <p:cNvSpPr/>
          <p:nvPr/>
        </p:nvSpPr>
        <p:spPr>
          <a:xfrm>
            <a:off x="311274" y="4425106"/>
            <a:ext cx="8521452" cy="210889"/>
          </a:xfrm>
          <a:prstGeom prst="rect">
            <a:avLst/>
          </a:prstGeom>
          <a:noFill/>
          <a:ln/>
        </p:spPr>
        <p:txBody>
          <a:bodyPr wrap="none" lIns="0" tIns="0" rIns="0" bIns="0" rtlCol="0" anchor="t"/>
          <a:lstStyle/>
          <a:p>
            <a:pPr marL="0" indent="0" algn="ctr">
              <a:lnSpc>
                <a:spcPct val="105000"/>
              </a:lnSpc>
              <a:buNone/>
            </a:pPr>
            <a:r>
              <a:rPr lang="en-US" sz="1000" dirty="0">
                <a:solidFill>
                  <a:srgbClr val="E2E6E9"/>
                </a:solidFill>
                <a:latin typeface="Merriweather" pitchFamily="34" charset="0"/>
                <a:ea typeface="Merriweather" pitchFamily="34" charset="-122"/>
                <a:cs typeface="Merriweather" pitchFamily="34" charset="-120"/>
              </a:rPr>
              <a:t>This Star Schema mirrors industry-standard data warehouse architecture used in enterprise BI systems</a:t>
            </a:r>
            <a:endParaRPr lang="en-US" sz="1000" dirty="0"/>
          </a:p>
        </p:txBody>
      </p:sp>
      <p:sp>
        <p:nvSpPr>
          <p:cNvPr id="21" name="Rectangle 20">
            <a:extLst>
              <a:ext uri="{FF2B5EF4-FFF2-40B4-BE49-F238E27FC236}">
                <a16:creationId xmlns:a16="http://schemas.microsoft.com/office/drawing/2014/main" id="{9394852C-71FD-2654-0124-B7E3913F0FB3}"/>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3" name="Text 14">
            <a:extLst>
              <a:ext uri="{FF2B5EF4-FFF2-40B4-BE49-F238E27FC236}">
                <a16:creationId xmlns:a16="http://schemas.microsoft.com/office/drawing/2014/main" id="{DDEDDC66-5C58-A963-A15E-5552CC2D12C8}"/>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25" name="TextBox 24">
            <a:extLst>
              <a:ext uri="{FF2B5EF4-FFF2-40B4-BE49-F238E27FC236}">
                <a16:creationId xmlns:a16="http://schemas.microsoft.com/office/drawing/2014/main" id="{5FA23E84-224E-7594-E43D-431FE7556DB5}"/>
              </a:ext>
            </a:extLst>
          </p:cNvPr>
          <p:cNvSpPr txBox="1"/>
          <p:nvPr/>
        </p:nvSpPr>
        <p:spPr>
          <a:xfrm>
            <a:off x="1334914" y="296852"/>
            <a:ext cx="6778972" cy="369332"/>
          </a:xfrm>
          <a:prstGeom prst="rect">
            <a:avLst/>
          </a:prstGeom>
          <a:noFill/>
        </p:spPr>
        <p:txBody>
          <a:bodyPr wrap="square" rtlCol="0">
            <a:spAutoFit/>
          </a:bodyPr>
          <a:lstStyle/>
          <a:p>
            <a:pPr algn="ctr"/>
            <a:r>
              <a:rPr lang="en-IN" dirty="0">
                <a:solidFill>
                  <a:srgbClr val="FF0000"/>
                </a:solidFill>
              </a:rPr>
              <a:t>Star Schema Data Model — Power BI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16426" y="514866"/>
            <a:ext cx="1900312" cy="667048"/>
          </a:xfrm>
          <a:prstGeom prst="roundRect">
            <a:avLst>
              <a:gd name="adj" fmla="val 5521"/>
            </a:avLst>
          </a:prstGeom>
          <a:solidFill>
            <a:srgbClr val="09151A">
              <a:alpha val="95000"/>
            </a:srgbClr>
          </a:solidFill>
          <a:ln w="19050">
            <a:solidFill>
              <a:srgbClr val="194A99"/>
            </a:solidFill>
            <a:prstDash val="solid"/>
          </a:ln>
        </p:spPr>
      </p:sp>
      <p:sp>
        <p:nvSpPr>
          <p:cNvPr id="4" name="Text 2"/>
          <p:cNvSpPr/>
          <p:nvPr/>
        </p:nvSpPr>
        <p:spPr>
          <a:xfrm>
            <a:off x="911656" y="589504"/>
            <a:ext cx="1553691" cy="240953"/>
          </a:xfrm>
          <a:prstGeom prst="rect">
            <a:avLst/>
          </a:prstGeom>
          <a:noFill/>
          <a:ln/>
        </p:spPr>
        <p:txBody>
          <a:bodyPr wrap="none" lIns="0" tIns="0" rIns="0" bIns="0" rtlCol="0" anchor="t"/>
          <a:lstStyle/>
          <a:p>
            <a:pPr marL="0" indent="0" algn="ctr">
              <a:lnSpc>
                <a:spcPct val="104000"/>
              </a:lnSpc>
              <a:buNone/>
            </a:pPr>
            <a:r>
              <a:rPr lang="en-US" sz="1500" dirty="0">
                <a:solidFill>
                  <a:srgbClr val="E2E6E9"/>
                </a:solidFill>
                <a:latin typeface="Merriweather" pitchFamily="34" charset="0"/>
                <a:ea typeface="Merriweather" pitchFamily="34" charset="-122"/>
                <a:cs typeface="Merriweather" pitchFamily="34" charset="-120"/>
              </a:rPr>
              <a:t>₹16.64M</a:t>
            </a:r>
            <a:endParaRPr lang="en-US" sz="1500" dirty="0"/>
          </a:p>
        </p:txBody>
      </p:sp>
      <p:sp>
        <p:nvSpPr>
          <p:cNvPr id="5" name="Text 3"/>
          <p:cNvSpPr/>
          <p:nvPr/>
        </p:nvSpPr>
        <p:spPr>
          <a:xfrm>
            <a:off x="891006" y="880611"/>
            <a:ext cx="1553691" cy="246757"/>
          </a:xfrm>
          <a:prstGeom prst="rect">
            <a:avLst/>
          </a:prstGeom>
          <a:noFill/>
          <a:ln/>
        </p:spPr>
        <p:txBody>
          <a:bodyPr wrap="none" lIns="0" tIns="0" rIns="0" bIns="0" rtlCol="0" anchor="t"/>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Total Revenue</a:t>
            </a:r>
            <a:endParaRPr lang="en-US" sz="1200" dirty="0"/>
          </a:p>
        </p:txBody>
      </p:sp>
      <p:sp>
        <p:nvSpPr>
          <p:cNvPr id="6" name="Shape 4"/>
          <p:cNvSpPr/>
          <p:nvPr/>
        </p:nvSpPr>
        <p:spPr>
          <a:xfrm>
            <a:off x="2619609" y="514866"/>
            <a:ext cx="1900386" cy="667048"/>
          </a:xfrm>
          <a:prstGeom prst="roundRect">
            <a:avLst>
              <a:gd name="adj" fmla="val 5521"/>
            </a:avLst>
          </a:prstGeom>
          <a:solidFill>
            <a:srgbClr val="09151A">
              <a:alpha val="95000"/>
            </a:srgbClr>
          </a:solidFill>
          <a:ln w="19050">
            <a:solidFill>
              <a:srgbClr val="194A99"/>
            </a:solidFill>
            <a:prstDash val="solid"/>
          </a:ln>
        </p:spPr>
      </p:sp>
      <p:sp>
        <p:nvSpPr>
          <p:cNvPr id="7" name="Text 5"/>
          <p:cNvSpPr/>
          <p:nvPr/>
        </p:nvSpPr>
        <p:spPr>
          <a:xfrm>
            <a:off x="2826722" y="591166"/>
            <a:ext cx="1553766" cy="240953"/>
          </a:xfrm>
          <a:prstGeom prst="rect">
            <a:avLst/>
          </a:prstGeom>
          <a:noFill/>
          <a:ln/>
        </p:spPr>
        <p:txBody>
          <a:bodyPr wrap="none" lIns="0" tIns="0" rIns="0" bIns="0" rtlCol="0" anchor="t"/>
          <a:lstStyle/>
          <a:p>
            <a:pPr marL="0" indent="0" algn="ctr">
              <a:lnSpc>
                <a:spcPct val="104000"/>
              </a:lnSpc>
              <a:buNone/>
            </a:pPr>
            <a:r>
              <a:rPr lang="en-US" sz="1500" dirty="0">
                <a:solidFill>
                  <a:srgbClr val="E2E6E9"/>
                </a:solidFill>
                <a:latin typeface="Merriweather" pitchFamily="34" charset="0"/>
                <a:ea typeface="Merriweather" pitchFamily="34" charset="-122"/>
                <a:cs typeface="Merriweather" pitchFamily="34" charset="-120"/>
              </a:rPr>
              <a:t>99K</a:t>
            </a:r>
            <a:endParaRPr lang="en-US" sz="1500" dirty="0"/>
          </a:p>
        </p:txBody>
      </p:sp>
      <p:sp>
        <p:nvSpPr>
          <p:cNvPr id="8" name="Text 6"/>
          <p:cNvSpPr/>
          <p:nvPr/>
        </p:nvSpPr>
        <p:spPr>
          <a:xfrm>
            <a:off x="2846039" y="897491"/>
            <a:ext cx="1553766" cy="246757"/>
          </a:xfrm>
          <a:prstGeom prst="rect">
            <a:avLst/>
          </a:prstGeom>
          <a:noFill/>
          <a:ln/>
        </p:spPr>
        <p:txBody>
          <a:bodyPr wrap="none" lIns="0" tIns="0" rIns="0" bIns="0" rtlCol="0" anchor="t"/>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Total Orders</a:t>
            </a:r>
            <a:endParaRPr lang="en-US" sz="1200" dirty="0"/>
          </a:p>
        </p:txBody>
      </p:sp>
      <p:sp>
        <p:nvSpPr>
          <p:cNvPr id="9" name="Shape 7"/>
          <p:cNvSpPr/>
          <p:nvPr/>
        </p:nvSpPr>
        <p:spPr>
          <a:xfrm>
            <a:off x="4626235" y="514866"/>
            <a:ext cx="1900386" cy="667048"/>
          </a:xfrm>
          <a:prstGeom prst="roundRect">
            <a:avLst>
              <a:gd name="adj" fmla="val 5521"/>
            </a:avLst>
          </a:prstGeom>
          <a:solidFill>
            <a:srgbClr val="09151A">
              <a:alpha val="95000"/>
            </a:srgbClr>
          </a:solidFill>
          <a:ln w="19050">
            <a:solidFill>
              <a:srgbClr val="194A99"/>
            </a:solidFill>
            <a:prstDash val="solid"/>
          </a:ln>
        </p:spPr>
        <p:txBody>
          <a:bodyPr/>
          <a:lstStyle/>
          <a:p>
            <a:endParaRPr lang="en-IN" dirty="0"/>
          </a:p>
        </p:txBody>
      </p:sp>
      <p:sp>
        <p:nvSpPr>
          <p:cNvPr id="10" name="Text 8"/>
          <p:cNvSpPr/>
          <p:nvPr/>
        </p:nvSpPr>
        <p:spPr>
          <a:xfrm>
            <a:off x="4817578" y="632418"/>
            <a:ext cx="1553766" cy="240953"/>
          </a:xfrm>
          <a:prstGeom prst="rect">
            <a:avLst/>
          </a:prstGeom>
          <a:noFill/>
          <a:ln/>
        </p:spPr>
        <p:txBody>
          <a:bodyPr wrap="none" lIns="0" tIns="0" rIns="0" bIns="0" rtlCol="0" anchor="t"/>
          <a:lstStyle/>
          <a:p>
            <a:pPr marL="0" indent="0" algn="ctr">
              <a:lnSpc>
                <a:spcPct val="104000"/>
              </a:lnSpc>
              <a:buNone/>
            </a:pPr>
            <a:r>
              <a:rPr lang="en-US" sz="1500" dirty="0">
                <a:solidFill>
                  <a:srgbClr val="E2E6E9"/>
                </a:solidFill>
                <a:latin typeface="Merriweather" pitchFamily="34" charset="0"/>
                <a:ea typeface="Merriweather" pitchFamily="34" charset="-122"/>
                <a:cs typeface="Merriweather" pitchFamily="34" charset="-120"/>
              </a:rPr>
              <a:t>-11.13</a:t>
            </a:r>
            <a:endParaRPr lang="en-US" sz="1500" dirty="0"/>
          </a:p>
        </p:txBody>
      </p:sp>
      <p:sp>
        <p:nvSpPr>
          <p:cNvPr id="11" name="Text 9"/>
          <p:cNvSpPr/>
          <p:nvPr/>
        </p:nvSpPr>
        <p:spPr>
          <a:xfrm>
            <a:off x="4817578" y="881525"/>
            <a:ext cx="1553766" cy="333598"/>
          </a:xfrm>
          <a:prstGeom prst="rect">
            <a:avLst/>
          </a:prstGeom>
          <a:noFill/>
          <a:ln/>
        </p:spPr>
        <p:txBody>
          <a:bodyPr wrap="square" lIns="0" tIns="0" rIns="0" bIns="0" rtlCol="0" anchor="t">
            <a:normAutofit fontScale="85000" lnSpcReduction="10000"/>
          </a:bodyPr>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Avg Delivery Delay Days</a:t>
            </a:r>
            <a:endParaRPr lang="en-US" sz="1200" dirty="0"/>
          </a:p>
        </p:txBody>
      </p:sp>
      <p:sp>
        <p:nvSpPr>
          <p:cNvPr id="12" name="Shape 10"/>
          <p:cNvSpPr/>
          <p:nvPr/>
        </p:nvSpPr>
        <p:spPr>
          <a:xfrm>
            <a:off x="6626521" y="507720"/>
            <a:ext cx="1822304" cy="681340"/>
          </a:xfrm>
          <a:prstGeom prst="roundRect">
            <a:avLst>
              <a:gd name="adj" fmla="val 5521"/>
            </a:avLst>
          </a:prstGeom>
          <a:solidFill>
            <a:srgbClr val="09151A">
              <a:alpha val="95000"/>
            </a:srgbClr>
          </a:solidFill>
          <a:ln w="19050">
            <a:solidFill>
              <a:srgbClr val="194A99"/>
            </a:solidFill>
            <a:prstDash val="solid"/>
          </a:ln>
        </p:spPr>
      </p:sp>
      <p:sp>
        <p:nvSpPr>
          <p:cNvPr id="13" name="Text 11"/>
          <p:cNvSpPr/>
          <p:nvPr/>
        </p:nvSpPr>
        <p:spPr>
          <a:xfrm>
            <a:off x="6729728" y="604210"/>
            <a:ext cx="1553766" cy="255144"/>
          </a:xfrm>
          <a:prstGeom prst="rect">
            <a:avLst/>
          </a:prstGeom>
          <a:noFill/>
          <a:ln/>
        </p:spPr>
        <p:txBody>
          <a:bodyPr wrap="none" lIns="0" tIns="0" rIns="0" bIns="0" rtlCol="0" anchor="t"/>
          <a:lstStyle/>
          <a:p>
            <a:pPr marL="0" indent="0" algn="ctr">
              <a:lnSpc>
                <a:spcPct val="104000"/>
              </a:lnSpc>
              <a:buNone/>
            </a:pPr>
            <a:r>
              <a:rPr lang="en-US" sz="1500" dirty="0">
                <a:solidFill>
                  <a:srgbClr val="E2E6E9"/>
                </a:solidFill>
                <a:latin typeface="Merriweather" pitchFamily="34" charset="0"/>
                <a:ea typeface="Merriweather" pitchFamily="34" charset="-122"/>
                <a:cs typeface="Merriweather" pitchFamily="34" charset="-120"/>
              </a:rPr>
              <a:t>7.66%</a:t>
            </a:r>
            <a:endParaRPr lang="en-US" sz="1500" dirty="0"/>
          </a:p>
        </p:txBody>
      </p:sp>
      <p:sp>
        <p:nvSpPr>
          <p:cNvPr id="14" name="Text 12"/>
          <p:cNvSpPr/>
          <p:nvPr/>
        </p:nvSpPr>
        <p:spPr>
          <a:xfrm>
            <a:off x="6924104" y="873371"/>
            <a:ext cx="1553766" cy="273565"/>
          </a:xfrm>
          <a:prstGeom prst="rect">
            <a:avLst/>
          </a:prstGeom>
          <a:noFill/>
          <a:ln/>
        </p:spPr>
        <p:txBody>
          <a:bodyPr wrap="none" lIns="0" tIns="0" rIns="0" bIns="0" rtlCol="0" anchor="t"/>
          <a:lstStyle/>
          <a:p>
            <a:pPr marL="0" indent="0" algn="ctr">
              <a:lnSpc>
                <a:spcPct val="133000"/>
              </a:lnSpc>
              <a:buNone/>
            </a:pPr>
            <a:r>
              <a:rPr lang="en-US" sz="1200" dirty="0">
                <a:solidFill>
                  <a:srgbClr val="E2E6E9"/>
                </a:solidFill>
                <a:latin typeface="Merriweather" pitchFamily="34" charset="0"/>
                <a:ea typeface="Merriweather" pitchFamily="34" charset="-122"/>
                <a:cs typeface="Merriweather" pitchFamily="34" charset="-120"/>
              </a:rPr>
              <a:t>Late Delivery Rate</a:t>
            </a:r>
            <a:endParaRPr lang="en-US" sz="1200" dirty="0"/>
          </a:p>
        </p:txBody>
      </p:sp>
      <p:sp>
        <p:nvSpPr>
          <p:cNvPr id="16" name="Text 14"/>
          <p:cNvSpPr/>
          <p:nvPr/>
        </p:nvSpPr>
        <p:spPr>
          <a:xfrm>
            <a:off x="6992427" y="1519359"/>
            <a:ext cx="1769334" cy="2078977"/>
          </a:xfrm>
          <a:prstGeom prst="rect">
            <a:avLst/>
          </a:prstGeom>
          <a:noFill/>
          <a:ln/>
        </p:spPr>
        <p:txBody>
          <a:bodyPr wrap="square" lIns="0" tIns="0" rIns="0" bIns="0" rtlCol="0" anchor="t">
            <a:noAutofit/>
          </a:bodyPr>
          <a:lstStyle/>
          <a:p>
            <a:pPr marL="243840" indent="-24384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São Paulo generates ₹2.3M — 13.8% of total network revenue</a:t>
            </a:r>
            <a:endParaRPr lang="en-US" sz="1050" dirty="0"/>
          </a:p>
          <a:p>
            <a:pPr marL="243840" indent="-24384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Revenue growing from ₹53K (2016) to ₹8.96M (2018) — 168x growth</a:t>
            </a:r>
            <a:endParaRPr lang="en-US" sz="1050" dirty="0"/>
          </a:p>
          <a:p>
            <a:pPr marL="243840" indent="-243840" algn="l">
              <a:lnSpc>
                <a:spcPct val="133000"/>
              </a:lnSpc>
              <a:buSzPct val="100000"/>
              <a:buChar char="•"/>
            </a:pPr>
            <a:r>
              <a:rPr lang="en-US" sz="1050" dirty="0">
                <a:solidFill>
                  <a:srgbClr val="E2E6E9"/>
                </a:solidFill>
                <a:latin typeface="Merriweather" pitchFamily="34" charset="0"/>
                <a:ea typeface="Merriweather" pitchFamily="34" charset="-122"/>
                <a:cs typeface="Merriweather" pitchFamily="34" charset="-120"/>
              </a:rPr>
              <a:t>Monthly peak in November — seasonal demand pattern confirmed</a:t>
            </a:r>
            <a:endParaRPr lang="en-US" sz="1050" dirty="0"/>
          </a:p>
        </p:txBody>
      </p:sp>
      <p:sp>
        <p:nvSpPr>
          <p:cNvPr id="19" name="Rectangle 18">
            <a:extLst>
              <a:ext uri="{FF2B5EF4-FFF2-40B4-BE49-F238E27FC236}">
                <a16:creationId xmlns:a16="http://schemas.microsoft.com/office/drawing/2014/main" id="{221353B8-85EC-7EFB-F7AE-34DDB85A6AB6}"/>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F0063557-C3E5-3B2A-EC75-0A33C07627EA}"/>
              </a:ext>
            </a:extLst>
          </p:cNvPr>
          <p:cNvSpPr txBox="1"/>
          <p:nvPr/>
        </p:nvSpPr>
        <p:spPr>
          <a:xfrm>
            <a:off x="1334913" y="74267"/>
            <a:ext cx="6778972" cy="369332"/>
          </a:xfrm>
          <a:prstGeom prst="rect">
            <a:avLst/>
          </a:prstGeom>
          <a:noFill/>
        </p:spPr>
        <p:txBody>
          <a:bodyPr wrap="square" rtlCol="0">
            <a:spAutoFit/>
          </a:bodyPr>
          <a:lstStyle/>
          <a:p>
            <a:pPr algn="ctr"/>
            <a:r>
              <a:rPr lang="en-IN" dirty="0">
                <a:solidFill>
                  <a:srgbClr val="FF0000"/>
                </a:solidFill>
              </a:rPr>
              <a:t>Executive Overview Dashboard</a:t>
            </a:r>
          </a:p>
        </p:txBody>
      </p:sp>
      <p:pic>
        <p:nvPicPr>
          <p:cNvPr id="23" name="Picture 22">
            <a:extLst>
              <a:ext uri="{FF2B5EF4-FFF2-40B4-BE49-F238E27FC236}">
                <a16:creationId xmlns:a16="http://schemas.microsoft.com/office/drawing/2014/main" id="{1A625C78-7560-58F9-6898-6B0EF87337A6}"/>
              </a:ext>
            </a:extLst>
          </p:cNvPr>
          <p:cNvPicPr>
            <a:picLocks noChangeAspect="1"/>
          </p:cNvPicPr>
          <p:nvPr/>
        </p:nvPicPr>
        <p:blipFill>
          <a:blip r:embed="rId3"/>
          <a:stretch>
            <a:fillRect/>
          </a:stretch>
        </p:blipFill>
        <p:spPr>
          <a:xfrm>
            <a:off x="450752" y="1312739"/>
            <a:ext cx="6305705" cy="3010029"/>
          </a:xfrm>
          <a:prstGeom prst="rect">
            <a:avLst/>
          </a:prstGeom>
        </p:spPr>
      </p:pic>
      <p:sp>
        <p:nvSpPr>
          <p:cNvPr id="29" name="Text 14">
            <a:extLst>
              <a:ext uri="{FF2B5EF4-FFF2-40B4-BE49-F238E27FC236}">
                <a16:creationId xmlns:a16="http://schemas.microsoft.com/office/drawing/2014/main" id="{7F5CB501-DF2C-703A-CB0E-45D76CB615BE}"/>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73260" y="1508522"/>
            <a:ext cx="2246560" cy="1129829"/>
          </a:xfrm>
          <a:prstGeom prst="rect">
            <a:avLst/>
          </a:prstGeom>
          <a:noFill/>
          <a:ln/>
        </p:spPr>
        <p:txBody>
          <a:bodyPr wrap="none" lIns="0" tIns="0" rIns="0" bIns="0" rtlCol="0" anchor="t"/>
          <a:lstStyle/>
          <a:p>
            <a:pPr marL="0" indent="0" algn="ctr">
              <a:lnSpc>
                <a:spcPct val="104000"/>
              </a:lnSpc>
              <a:buNone/>
            </a:pPr>
            <a:r>
              <a:rPr lang="en-US" sz="7100" b="1" dirty="0">
                <a:solidFill>
                  <a:srgbClr val="FF4444"/>
                </a:solidFill>
                <a:latin typeface="Merriweather Bold" pitchFamily="34" charset="0"/>
                <a:ea typeface="Merriweather Bold" pitchFamily="34" charset="-122"/>
                <a:cs typeface="Merriweather Bold" pitchFamily="34" charset="-120"/>
              </a:rPr>
              <a:t>126</a:t>
            </a:r>
            <a:endParaRPr lang="en-US" sz="7100" dirty="0"/>
          </a:p>
        </p:txBody>
      </p:sp>
      <p:sp>
        <p:nvSpPr>
          <p:cNvPr id="4" name="Text 2"/>
          <p:cNvSpPr/>
          <p:nvPr/>
        </p:nvSpPr>
        <p:spPr>
          <a:xfrm>
            <a:off x="260896" y="2520099"/>
            <a:ext cx="2503512" cy="519782"/>
          </a:xfrm>
          <a:prstGeom prst="rect">
            <a:avLst/>
          </a:prstGeom>
          <a:noFill/>
          <a:ln/>
        </p:spPr>
        <p:txBody>
          <a:bodyPr wrap="none" lIns="0" tIns="0" rIns="0" bIns="0" rtlCol="0" anchor="t"/>
          <a:lstStyle/>
          <a:p>
            <a:pPr marL="0" indent="0" algn="ctr">
              <a:lnSpc>
                <a:spcPct val="104000"/>
              </a:lnSpc>
              <a:buNone/>
            </a:pPr>
            <a:r>
              <a:rPr lang="en-US" sz="3250" b="1" dirty="0">
                <a:solidFill>
                  <a:srgbClr val="FF4444"/>
                </a:solidFill>
                <a:latin typeface="Merriweather Bold" pitchFamily="34" charset="0"/>
                <a:ea typeface="Merriweather Bold" pitchFamily="34" charset="-122"/>
                <a:cs typeface="Merriweather Bold" pitchFamily="34" charset="-120"/>
              </a:rPr>
              <a:t>DAYS</a:t>
            </a:r>
            <a:endParaRPr lang="en-US" sz="3250" dirty="0"/>
          </a:p>
        </p:txBody>
      </p:sp>
      <p:sp>
        <p:nvSpPr>
          <p:cNvPr id="5" name="Text 3"/>
          <p:cNvSpPr/>
          <p:nvPr/>
        </p:nvSpPr>
        <p:spPr>
          <a:xfrm>
            <a:off x="539874" y="3063428"/>
            <a:ext cx="2046312" cy="428179"/>
          </a:xfrm>
          <a:prstGeom prst="rect">
            <a:avLst/>
          </a:prstGeom>
          <a:noFill/>
          <a:ln/>
        </p:spPr>
        <p:txBody>
          <a:bodyPr wrap="square" lIns="0" tIns="0" rIns="0" bIns="0" rtlCol="0" anchor="t"/>
          <a:lstStyle/>
          <a:p>
            <a:pPr marL="0" indent="0" algn="ctr">
              <a:lnSpc>
                <a:spcPct val="119000"/>
              </a:lnSpc>
              <a:spcAft>
                <a:spcPts val="650"/>
              </a:spcAft>
              <a:buNone/>
            </a:pPr>
            <a:r>
              <a:rPr lang="en-US" sz="900" b="1" dirty="0">
                <a:solidFill>
                  <a:srgbClr val="E2E6E9"/>
                </a:solidFill>
                <a:latin typeface="Merriweather Bold" pitchFamily="34" charset="0"/>
                <a:ea typeface="Merriweather Bold" pitchFamily="34" charset="-122"/>
                <a:cs typeface="Merriweather Bold" pitchFamily="34" charset="-120"/>
              </a:rPr>
              <a:t>Worst Average Delivery Delay</a:t>
            </a:r>
            <a:endParaRPr lang="en-US" sz="900" dirty="0"/>
          </a:p>
          <a:p>
            <a:pPr marL="0" indent="0" algn="ctr">
              <a:lnSpc>
                <a:spcPct val="119000"/>
              </a:lnSpc>
              <a:buNone/>
            </a:pPr>
            <a:r>
              <a:rPr lang="en-US" sz="900" dirty="0">
                <a:solidFill>
                  <a:srgbClr val="E2E6E9"/>
                </a:solidFill>
                <a:latin typeface="Merriweather" pitchFamily="34" charset="0"/>
                <a:ea typeface="Merriweather" pitchFamily="34" charset="-122"/>
                <a:cs typeface="Merriweather" pitchFamily="34" charset="-120"/>
              </a:rPr>
              <a:t>Novo Brasil, ES</a:t>
            </a:r>
            <a:endParaRPr lang="en-US" sz="900" dirty="0"/>
          </a:p>
        </p:txBody>
      </p:sp>
      <p:sp>
        <p:nvSpPr>
          <p:cNvPr id="6" name="Shape 4"/>
          <p:cNvSpPr/>
          <p:nvPr/>
        </p:nvSpPr>
        <p:spPr>
          <a:xfrm>
            <a:off x="2770841" y="1442517"/>
            <a:ext cx="3297849" cy="2632025"/>
          </a:xfrm>
          <a:prstGeom prst="roundRect">
            <a:avLst>
              <a:gd name="adj" fmla="val 1923"/>
            </a:avLst>
          </a:prstGeom>
          <a:noFill/>
          <a:ln w="4763">
            <a:solidFill>
              <a:srgbClr val="FFFFFF">
                <a:alpha val="24000"/>
              </a:srgbClr>
            </a:solidFill>
            <a:prstDash val="solid"/>
          </a:ln>
        </p:spPr>
      </p:sp>
      <p:sp>
        <p:nvSpPr>
          <p:cNvPr id="7" name="Text 5"/>
          <p:cNvSpPr/>
          <p:nvPr/>
        </p:nvSpPr>
        <p:spPr>
          <a:xfrm>
            <a:off x="3010272" y="1508522"/>
            <a:ext cx="1563142" cy="171748"/>
          </a:xfrm>
          <a:prstGeom prst="rect">
            <a:avLst/>
          </a:prstGeom>
          <a:noFill/>
          <a:ln/>
        </p:spPr>
        <p:txBody>
          <a:bodyPr wrap="none" lIns="0" tIns="0" rIns="0" bIns="0" rtlCol="0" anchor="t"/>
          <a:lstStyle/>
          <a:p>
            <a:pPr marL="0" indent="0" algn="l">
              <a:lnSpc>
                <a:spcPct val="119000"/>
              </a:lnSpc>
              <a:buNone/>
            </a:pPr>
            <a:r>
              <a:rPr lang="en-US" sz="900" b="1" dirty="0">
                <a:solidFill>
                  <a:srgbClr val="E2E6E9"/>
                </a:solidFill>
                <a:latin typeface="Merriweather Bold" pitchFamily="34" charset="0"/>
                <a:ea typeface="Merriweather Bold" pitchFamily="34" charset="-122"/>
                <a:cs typeface="Merriweather Bold" pitchFamily="34" charset="-120"/>
              </a:rPr>
              <a:t>Region</a:t>
            </a:r>
            <a:endParaRPr lang="en-US" sz="900" dirty="0"/>
          </a:p>
        </p:txBody>
      </p:sp>
      <p:sp>
        <p:nvSpPr>
          <p:cNvPr id="8" name="Text 6"/>
          <p:cNvSpPr/>
          <p:nvPr/>
        </p:nvSpPr>
        <p:spPr>
          <a:xfrm>
            <a:off x="4357167" y="1508522"/>
            <a:ext cx="1114127" cy="171748"/>
          </a:xfrm>
          <a:prstGeom prst="rect">
            <a:avLst/>
          </a:prstGeom>
          <a:noFill/>
          <a:ln/>
        </p:spPr>
        <p:txBody>
          <a:bodyPr wrap="none" lIns="0" tIns="0" rIns="0" bIns="0" rtlCol="0" anchor="t"/>
          <a:lstStyle/>
          <a:p>
            <a:pPr marL="0" indent="0" algn="l">
              <a:lnSpc>
                <a:spcPct val="119000"/>
              </a:lnSpc>
              <a:buNone/>
            </a:pPr>
            <a:r>
              <a:rPr lang="en-US" sz="900" b="1" dirty="0">
                <a:solidFill>
                  <a:srgbClr val="E2E6E9"/>
                </a:solidFill>
                <a:latin typeface="Merriweather Bold" pitchFamily="34" charset="0"/>
                <a:ea typeface="Merriweather Bold" pitchFamily="34" charset="-122"/>
                <a:cs typeface="Merriweather Bold" pitchFamily="34" charset="-120"/>
              </a:rPr>
              <a:t>Delay Days</a:t>
            </a:r>
            <a:endParaRPr lang="en-US" sz="900" dirty="0"/>
          </a:p>
        </p:txBody>
      </p:sp>
      <p:sp>
        <p:nvSpPr>
          <p:cNvPr id="9" name="Text 7"/>
          <p:cNvSpPr/>
          <p:nvPr/>
        </p:nvSpPr>
        <p:spPr>
          <a:xfrm>
            <a:off x="5255047" y="1508522"/>
            <a:ext cx="1178272" cy="171748"/>
          </a:xfrm>
          <a:prstGeom prst="rect">
            <a:avLst/>
          </a:prstGeom>
          <a:noFill/>
          <a:ln/>
        </p:spPr>
        <p:txBody>
          <a:bodyPr wrap="none" lIns="0" tIns="0" rIns="0" bIns="0" rtlCol="0" anchor="t"/>
          <a:lstStyle/>
          <a:p>
            <a:pPr marL="0" indent="0" algn="l">
              <a:lnSpc>
                <a:spcPct val="119000"/>
              </a:lnSpc>
              <a:buNone/>
            </a:pPr>
            <a:r>
              <a:rPr lang="en-US" sz="900" b="1" dirty="0">
                <a:solidFill>
                  <a:srgbClr val="E2E6E9"/>
                </a:solidFill>
                <a:latin typeface="Merriweather Bold" pitchFamily="34" charset="0"/>
                <a:ea typeface="Merriweather Bold" pitchFamily="34" charset="-122"/>
                <a:cs typeface="Merriweather Bold" pitchFamily="34" charset="-120"/>
              </a:rPr>
              <a:t>Status</a:t>
            </a:r>
            <a:endParaRPr lang="en-US" sz="900" dirty="0"/>
          </a:p>
        </p:txBody>
      </p:sp>
      <p:sp>
        <p:nvSpPr>
          <p:cNvPr id="10" name="Text 8"/>
          <p:cNvSpPr/>
          <p:nvPr/>
        </p:nvSpPr>
        <p:spPr>
          <a:xfrm>
            <a:off x="3010272" y="1807518"/>
            <a:ext cx="1563142"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Novo Brasil, ES</a:t>
            </a:r>
            <a:endParaRPr lang="en-US" sz="900" dirty="0"/>
          </a:p>
        </p:txBody>
      </p:sp>
      <p:sp>
        <p:nvSpPr>
          <p:cNvPr id="11" name="Text 9"/>
          <p:cNvSpPr/>
          <p:nvPr/>
        </p:nvSpPr>
        <p:spPr>
          <a:xfrm>
            <a:off x="4357167" y="1807518"/>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FF0000"/>
                </a:solidFill>
                <a:latin typeface="Merriweather" pitchFamily="34" charset="0"/>
                <a:ea typeface="Merriweather" pitchFamily="34" charset="-122"/>
                <a:cs typeface="Merriweather" pitchFamily="34" charset="-120"/>
              </a:rPr>
              <a:t>126 </a:t>
            </a:r>
            <a:r>
              <a:rPr lang="en-US" sz="900" dirty="0">
                <a:solidFill>
                  <a:srgbClr val="E2E6E9"/>
                </a:solidFill>
                <a:latin typeface="Merriweather" pitchFamily="34" charset="0"/>
                <a:ea typeface="Merriweather" pitchFamily="34" charset="-122"/>
                <a:cs typeface="Merriweather" pitchFamily="34" charset="-120"/>
              </a:rPr>
              <a:t>days</a:t>
            </a:r>
            <a:endParaRPr lang="en-US" sz="900" dirty="0"/>
          </a:p>
        </p:txBody>
      </p:sp>
      <p:sp>
        <p:nvSpPr>
          <p:cNvPr id="12" name="Text 10"/>
          <p:cNvSpPr/>
          <p:nvPr/>
        </p:nvSpPr>
        <p:spPr>
          <a:xfrm>
            <a:off x="5255047" y="1807518"/>
            <a:ext cx="1178272" cy="176510"/>
          </a:xfrm>
          <a:prstGeom prst="rect">
            <a:avLst/>
          </a:prstGeom>
          <a:noFill/>
          <a:ln/>
        </p:spPr>
        <p:txBody>
          <a:bodyPr wrap="none" lIns="0" tIns="0" rIns="0" bIns="0" rtlCol="0" anchor="t"/>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Critical</a:t>
            </a:r>
            <a:endParaRPr lang="en-US" sz="900" dirty="0"/>
          </a:p>
        </p:txBody>
      </p:sp>
      <p:sp>
        <p:nvSpPr>
          <p:cNvPr id="13" name="Text 11"/>
          <p:cNvSpPr/>
          <p:nvPr/>
        </p:nvSpPr>
        <p:spPr>
          <a:xfrm>
            <a:off x="3010272" y="2111276"/>
            <a:ext cx="1105942"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Capinzal Do Norte, MA</a:t>
            </a:r>
            <a:endParaRPr lang="en-US" sz="900" dirty="0"/>
          </a:p>
        </p:txBody>
      </p:sp>
      <p:sp>
        <p:nvSpPr>
          <p:cNvPr id="14" name="Text 12"/>
          <p:cNvSpPr/>
          <p:nvPr/>
        </p:nvSpPr>
        <p:spPr>
          <a:xfrm>
            <a:off x="4357167" y="2111276"/>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78 days</a:t>
            </a:r>
            <a:endParaRPr lang="en-US" sz="900" dirty="0"/>
          </a:p>
        </p:txBody>
      </p:sp>
      <p:sp>
        <p:nvSpPr>
          <p:cNvPr id="15" name="Text 13"/>
          <p:cNvSpPr/>
          <p:nvPr/>
        </p:nvSpPr>
        <p:spPr>
          <a:xfrm>
            <a:off x="5255047" y="2111276"/>
            <a:ext cx="1178272" cy="176510"/>
          </a:xfrm>
          <a:prstGeom prst="rect">
            <a:avLst/>
          </a:prstGeom>
          <a:noFill/>
          <a:ln/>
        </p:spPr>
        <p:txBody>
          <a:bodyPr wrap="none" lIns="0" tIns="0" rIns="0" bIns="0" rtlCol="0" anchor="t"/>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Critical</a:t>
            </a:r>
            <a:endParaRPr lang="en-US" sz="900" dirty="0"/>
          </a:p>
        </p:txBody>
      </p:sp>
      <p:sp>
        <p:nvSpPr>
          <p:cNvPr id="16" name="Text 14"/>
          <p:cNvSpPr/>
          <p:nvPr/>
        </p:nvSpPr>
        <p:spPr>
          <a:xfrm>
            <a:off x="3010272" y="2582019"/>
            <a:ext cx="1105942" cy="343495"/>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Adhemar De Barros, PR</a:t>
            </a:r>
            <a:endParaRPr lang="en-US" sz="900" dirty="0"/>
          </a:p>
        </p:txBody>
      </p:sp>
      <p:sp>
        <p:nvSpPr>
          <p:cNvPr id="17" name="Text 15"/>
          <p:cNvSpPr/>
          <p:nvPr/>
        </p:nvSpPr>
        <p:spPr>
          <a:xfrm>
            <a:off x="4357167" y="2582019"/>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73 days</a:t>
            </a:r>
            <a:endParaRPr lang="en-US" sz="900" dirty="0"/>
          </a:p>
        </p:txBody>
      </p:sp>
      <p:sp>
        <p:nvSpPr>
          <p:cNvPr id="18" name="Text 16"/>
          <p:cNvSpPr/>
          <p:nvPr/>
        </p:nvSpPr>
        <p:spPr>
          <a:xfrm>
            <a:off x="5255047" y="2582019"/>
            <a:ext cx="1178272" cy="176510"/>
          </a:xfrm>
          <a:prstGeom prst="rect">
            <a:avLst/>
          </a:prstGeom>
          <a:noFill/>
          <a:ln/>
        </p:spPr>
        <p:txBody>
          <a:bodyPr wrap="none" lIns="0" tIns="0" rIns="0" bIns="0" rtlCol="0" anchor="t"/>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High</a:t>
            </a:r>
            <a:endParaRPr lang="en-US" sz="900" dirty="0"/>
          </a:p>
        </p:txBody>
      </p:sp>
      <p:sp>
        <p:nvSpPr>
          <p:cNvPr id="19" name="Text 17"/>
          <p:cNvSpPr/>
          <p:nvPr/>
        </p:nvSpPr>
        <p:spPr>
          <a:xfrm>
            <a:off x="3010272" y="3052763"/>
            <a:ext cx="1563142"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Santa Maria, RJ</a:t>
            </a:r>
            <a:endParaRPr lang="en-US" sz="900" dirty="0"/>
          </a:p>
        </p:txBody>
      </p:sp>
      <p:sp>
        <p:nvSpPr>
          <p:cNvPr id="20" name="Text 18"/>
          <p:cNvSpPr/>
          <p:nvPr/>
        </p:nvSpPr>
        <p:spPr>
          <a:xfrm>
            <a:off x="4357167" y="3052763"/>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56 days</a:t>
            </a:r>
            <a:endParaRPr lang="en-US" sz="900" dirty="0"/>
          </a:p>
        </p:txBody>
      </p:sp>
      <p:sp>
        <p:nvSpPr>
          <p:cNvPr id="21" name="Text 19"/>
          <p:cNvSpPr/>
          <p:nvPr/>
        </p:nvSpPr>
        <p:spPr>
          <a:xfrm>
            <a:off x="5255047" y="3052763"/>
            <a:ext cx="1178272" cy="176510"/>
          </a:xfrm>
          <a:prstGeom prst="rect">
            <a:avLst/>
          </a:prstGeom>
          <a:noFill/>
          <a:ln/>
        </p:spPr>
        <p:txBody>
          <a:bodyPr wrap="none" lIns="0" tIns="0" rIns="0" bIns="0" rtlCol="0" anchor="t"/>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High</a:t>
            </a:r>
            <a:endParaRPr lang="en-US" sz="900" dirty="0"/>
          </a:p>
        </p:txBody>
      </p:sp>
      <p:sp>
        <p:nvSpPr>
          <p:cNvPr id="22" name="Text 20"/>
          <p:cNvSpPr/>
          <p:nvPr/>
        </p:nvSpPr>
        <p:spPr>
          <a:xfrm>
            <a:off x="3010272" y="3356521"/>
            <a:ext cx="1563142"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Arace, ES</a:t>
            </a:r>
            <a:endParaRPr lang="en-US" sz="900" dirty="0"/>
          </a:p>
        </p:txBody>
      </p:sp>
      <p:sp>
        <p:nvSpPr>
          <p:cNvPr id="23" name="Text 21"/>
          <p:cNvSpPr/>
          <p:nvPr/>
        </p:nvSpPr>
        <p:spPr>
          <a:xfrm>
            <a:off x="4357167" y="3356521"/>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53 days</a:t>
            </a:r>
            <a:endParaRPr lang="en-US" sz="900" dirty="0"/>
          </a:p>
        </p:txBody>
      </p:sp>
      <p:sp>
        <p:nvSpPr>
          <p:cNvPr id="24" name="Text 22"/>
          <p:cNvSpPr/>
          <p:nvPr/>
        </p:nvSpPr>
        <p:spPr>
          <a:xfrm>
            <a:off x="5255047" y="3356521"/>
            <a:ext cx="1178272" cy="176510"/>
          </a:xfrm>
          <a:prstGeom prst="rect">
            <a:avLst/>
          </a:prstGeom>
          <a:noFill/>
          <a:ln/>
        </p:spPr>
        <p:txBody>
          <a:bodyPr wrap="none" lIns="0" tIns="0" rIns="0" bIns="0" rtlCol="0" anchor="t"/>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Medium</a:t>
            </a:r>
            <a:endParaRPr lang="en-US" sz="900" dirty="0"/>
          </a:p>
        </p:txBody>
      </p:sp>
      <p:sp>
        <p:nvSpPr>
          <p:cNvPr id="25" name="Text 23"/>
          <p:cNvSpPr/>
          <p:nvPr/>
        </p:nvSpPr>
        <p:spPr>
          <a:xfrm>
            <a:off x="3010272" y="3660279"/>
            <a:ext cx="1563142" cy="171748"/>
          </a:xfrm>
          <a:prstGeom prst="rect">
            <a:avLst/>
          </a:prstGeom>
          <a:noFill/>
          <a:ln/>
        </p:spPr>
        <p:txBody>
          <a:bodyPr wrap="none" lIns="0" tIns="0" rIns="0" bIns="0" rtlCol="0" anchor="t"/>
          <a:lstStyle/>
          <a:p>
            <a:pPr marL="0" indent="0" algn="l">
              <a:lnSpc>
                <a:spcPct val="119000"/>
              </a:lnSpc>
              <a:buNone/>
            </a:pPr>
            <a:r>
              <a:rPr lang="en-US" sz="900" dirty="0">
                <a:solidFill>
                  <a:srgbClr val="E2E6E9"/>
                </a:solidFill>
                <a:latin typeface="Merriweather" pitchFamily="34" charset="0"/>
                <a:ea typeface="Merriweather" pitchFamily="34" charset="-122"/>
                <a:cs typeface="Merriweather" pitchFamily="34" charset="-120"/>
              </a:rPr>
              <a:t>Network Average</a:t>
            </a:r>
            <a:endParaRPr lang="en-US" sz="900" dirty="0"/>
          </a:p>
        </p:txBody>
      </p:sp>
      <p:sp>
        <p:nvSpPr>
          <p:cNvPr id="26" name="Text 24"/>
          <p:cNvSpPr/>
          <p:nvPr/>
        </p:nvSpPr>
        <p:spPr>
          <a:xfrm>
            <a:off x="4271888" y="3640021"/>
            <a:ext cx="1114127" cy="171748"/>
          </a:xfrm>
          <a:prstGeom prst="rect">
            <a:avLst/>
          </a:prstGeom>
          <a:noFill/>
          <a:ln/>
        </p:spPr>
        <p:txBody>
          <a:bodyPr wrap="none" lIns="0" tIns="0" rIns="0" bIns="0" rtlCol="0" anchor="t"/>
          <a:lstStyle/>
          <a:p>
            <a:pPr marL="0" indent="0" algn="l">
              <a:lnSpc>
                <a:spcPct val="119000"/>
              </a:lnSpc>
              <a:buNone/>
            </a:pPr>
            <a:r>
              <a:rPr lang="en-US" sz="900" dirty="0">
                <a:solidFill>
                  <a:srgbClr val="FFFF00"/>
                </a:solidFill>
                <a:latin typeface="Merriweather" pitchFamily="34" charset="0"/>
                <a:ea typeface="Merriweather" pitchFamily="34" charset="-122"/>
                <a:cs typeface="Merriweather" pitchFamily="34" charset="-120"/>
              </a:rPr>
              <a:t>-11.13</a:t>
            </a:r>
            <a:r>
              <a:rPr lang="en-US" sz="900" dirty="0">
                <a:solidFill>
                  <a:srgbClr val="E2E6E9"/>
                </a:solidFill>
                <a:latin typeface="Merriweather" pitchFamily="34" charset="0"/>
                <a:ea typeface="Merriweather" pitchFamily="34" charset="-122"/>
                <a:cs typeface="Merriweather" pitchFamily="34" charset="-120"/>
              </a:rPr>
              <a:t> days</a:t>
            </a:r>
            <a:endParaRPr lang="en-US" sz="900" dirty="0"/>
          </a:p>
        </p:txBody>
      </p:sp>
      <p:sp>
        <p:nvSpPr>
          <p:cNvPr id="27" name="Text 25"/>
          <p:cNvSpPr/>
          <p:nvPr/>
        </p:nvSpPr>
        <p:spPr>
          <a:xfrm>
            <a:off x="5236930" y="3640021"/>
            <a:ext cx="821612" cy="171748"/>
          </a:xfrm>
          <a:prstGeom prst="rect">
            <a:avLst/>
          </a:prstGeom>
          <a:noFill/>
          <a:ln/>
        </p:spPr>
        <p:txBody>
          <a:bodyPr wrap="square" lIns="0" tIns="0" rIns="0" bIns="0" rtlCol="0" anchor="t">
            <a:normAutofit/>
          </a:bodyPr>
          <a:lstStyle/>
          <a:p>
            <a:pPr marL="0" indent="0" algn="l">
              <a:lnSpc>
                <a:spcPct val="119000"/>
              </a:lnSpc>
              <a:buNone/>
            </a:pPr>
            <a:r>
              <a:rPr lang="en-US" sz="900" dirty="0">
                <a:solidFill>
                  <a:srgbClr val="000000"/>
                </a:solidFill>
                <a:latin typeface="Merriweather" pitchFamily="34" charset="0"/>
                <a:ea typeface="Merriweather" pitchFamily="34" charset="-122"/>
                <a:cs typeface="Merriweather" pitchFamily="34" charset="-120"/>
              </a:rPr>
              <a:t>🟢</a:t>
            </a:r>
            <a:r>
              <a:rPr lang="en-US" sz="900" dirty="0">
                <a:solidFill>
                  <a:srgbClr val="E2E6E9"/>
                </a:solidFill>
                <a:latin typeface="Merriweather" pitchFamily="34" charset="0"/>
                <a:ea typeface="Merriweather" pitchFamily="34" charset="-122"/>
                <a:cs typeface="Merriweather" pitchFamily="34" charset="-120"/>
              </a:rPr>
              <a:t> Acceptable</a:t>
            </a:r>
            <a:endParaRPr lang="en-US" sz="900" dirty="0"/>
          </a:p>
        </p:txBody>
      </p:sp>
      <p:sp>
        <p:nvSpPr>
          <p:cNvPr id="28" name="Text 26"/>
          <p:cNvSpPr/>
          <p:nvPr/>
        </p:nvSpPr>
        <p:spPr>
          <a:xfrm>
            <a:off x="6400056" y="1421309"/>
            <a:ext cx="2213521" cy="684609"/>
          </a:xfrm>
          <a:prstGeom prst="rect">
            <a:avLst/>
          </a:prstGeom>
          <a:noFill/>
          <a:ln/>
        </p:spPr>
        <p:txBody>
          <a:bodyPr wrap="square" lIns="0" tIns="0" rIns="0" bIns="0" rtlCol="0" anchor="t"/>
          <a:lstStyle/>
          <a:p>
            <a:pPr marL="0" indent="0" algn="ctr">
              <a:lnSpc>
                <a:spcPct val="119000"/>
              </a:lnSpc>
              <a:spcAft>
                <a:spcPts val="650"/>
              </a:spcAft>
              <a:buNone/>
            </a:pPr>
            <a:r>
              <a:rPr lang="en-US" sz="900" b="1" dirty="0">
                <a:solidFill>
                  <a:srgbClr val="E2E6E9"/>
                </a:solidFill>
                <a:latin typeface="Merriweather Bold" pitchFamily="34" charset="0"/>
                <a:ea typeface="Merriweather Bold" pitchFamily="34" charset="-122"/>
                <a:cs typeface="Merriweather Bold" pitchFamily="34" charset="-120"/>
              </a:rPr>
              <a:t>Page 2 Delivery Delay Bar Chart</a:t>
            </a:r>
            <a:endParaRPr lang="en-US" sz="900" dirty="0"/>
          </a:p>
          <a:p>
            <a:pPr marL="0" indent="0" algn="ctr">
              <a:lnSpc>
                <a:spcPct val="119000"/>
              </a:lnSpc>
              <a:spcAft>
                <a:spcPts val="650"/>
              </a:spcAft>
              <a:buNone/>
            </a:pPr>
            <a:r>
              <a:rPr lang="en-US" sz="900" dirty="0">
                <a:solidFill>
                  <a:srgbClr val="E2E6E9"/>
                </a:solidFill>
                <a:latin typeface="Merriweather" pitchFamily="34" charset="0"/>
                <a:ea typeface="Merriweather" pitchFamily="34" charset="-122"/>
                <a:cs typeface="Merriweather" pitchFamily="34" charset="-120"/>
              </a:rPr>
              <a:t>Delivery delay analysis by region</a:t>
            </a:r>
            <a:endParaRPr lang="en-US" sz="900" dirty="0"/>
          </a:p>
          <a:p>
            <a:pPr marL="0" indent="0" algn="ctr">
              <a:lnSpc>
                <a:spcPct val="119000"/>
              </a:lnSpc>
              <a:buNone/>
            </a:pPr>
            <a:r>
              <a:rPr lang="en-US" sz="900" dirty="0">
                <a:solidFill>
                  <a:srgbClr val="E2E6E9"/>
                </a:solidFill>
                <a:latin typeface="Merriweather" pitchFamily="34" charset="0"/>
                <a:ea typeface="Merriweather" pitchFamily="34" charset="-122"/>
                <a:cs typeface="Merriweather" pitchFamily="34" charset="-120"/>
              </a:rPr>
              <a:t>[Placeholder image]</a:t>
            </a:r>
            <a:endParaRPr lang="en-US" sz="900" dirty="0"/>
          </a:p>
        </p:txBody>
      </p:sp>
      <p:sp>
        <p:nvSpPr>
          <p:cNvPr id="29" name="Text 27"/>
          <p:cNvSpPr/>
          <p:nvPr/>
        </p:nvSpPr>
        <p:spPr>
          <a:xfrm>
            <a:off x="312688" y="4448880"/>
            <a:ext cx="8521452" cy="171748"/>
          </a:xfrm>
          <a:prstGeom prst="rect">
            <a:avLst/>
          </a:prstGeom>
          <a:noFill/>
          <a:ln/>
        </p:spPr>
        <p:txBody>
          <a:bodyPr wrap="none" lIns="0" tIns="0" rIns="0" bIns="0" rtlCol="0" anchor="t"/>
          <a:lstStyle/>
          <a:p>
            <a:pPr marL="0" indent="0" algn="l">
              <a:lnSpc>
                <a:spcPct val="119000"/>
              </a:lnSpc>
              <a:buNone/>
            </a:pPr>
            <a:r>
              <a:rPr lang="en-US" sz="900" b="1" dirty="0">
                <a:solidFill>
                  <a:srgbClr val="FFFF00"/>
                </a:solidFill>
                <a:latin typeface="Merriweather Bold" pitchFamily="34" charset="0"/>
                <a:ea typeface="Merriweather Bold" pitchFamily="34" charset="-122"/>
                <a:cs typeface="Merriweather Bold" pitchFamily="34" charset="-120"/>
              </a:rPr>
              <a:t>7,583 </a:t>
            </a:r>
            <a:r>
              <a:rPr lang="en-US" sz="900" b="1" dirty="0">
                <a:solidFill>
                  <a:srgbClr val="E2E6E9"/>
                </a:solidFill>
                <a:latin typeface="Merriweather Bold" pitchFamily="34" charset="0"/>
                <a:ea typeface="Merriweather Bold" pitchFamily="34" charset="-122"/>
                <a:cs typeface="Merriweather Bold" pitchFamily="34" charset="-120"/>
              </a:rPr>
              <a:t>orders delivered late out of </a:t>
            </a:r>
            <a:r>
              <a:rPr lang="en-US" sz="900" b="1" dirty="0">
                <a:solidFill>
                  <a:srgbClr val="FFFF00"/>
                </a:solidFill>
                <a:latin typeface="Merriweather Bold" pitchFamily="34" charset="0"/>
                <a:ea typeface="Merriweather Bold" pitchFamily="34" charset="-122"/>
                <a:cs typeface="Merriweather Bold" pitchFamily="34" charset="-120"/>
              </a:rPr>
              <a:t>99,000 </a:t>
            </a:r>
            <a:r>
              <a:rPr lang="en-US" sz="900" b="1" dirty="0">
                <a:solidFill>
                  <a:srgbClr val="E2E6E9"/>
                </a:solidFill>
                <a:latin typeface="Merriweather Bold" pitchFamily="34" charset="0"/>
                <a:ea typeface="Merriweather Bold" pitchFamily="34" charset="-122"/>
                <a:cs typeface="Merriweather Bold" pitchFamily="34" charset="-120"/>
              </a:rPr>
              <a:t>total — Root cause: Carrier concentration in underserved zones</a:t>
            </a:r>
            <a:endParaRPr lang="en-US" sz="900" dirty="0"/>
          </a:p>
        </p:txBody>
      </p:sp>
      <p:pic>
        <p:nvPicPr>
          <p:cNvPr id="32" name="Picture 31">
            <a:extLst>
              <a:ext uri="{FF2B5EF4-FFF2-40B4-BE49-F238E27FC236}">
                <a16:creationId xmlns:a16="http://schemas.microsoft.com/office/drawing/2014/main" id="{1A2597C8-E372-401C-DD86-BBCD37621BF5}"/>
              </a:ext>
            </a:extLst>
          </p:cNvPr>
          <p:cNvPicPr>
            <a:picLocks noChangeAspect="1"/>
          </p:cNvPicPr>
          <p:nvPr/>
        </p:nvPicPr>
        <p:blipFill>
          <a:blip r:embed="rId3"/>
          <a:stretch>
            <a:fillRect/>
          </a:stretch>
        </p:blipFill>
        <p:spPr>
          <a:xfrm>
            <a:off x="6283895" y="1090095"/>
            <a:ext cx="2695908" cy="3258781"/>
          </a:xfrm>
          <a:prstGeom prst="rect">
            <a:avLst/>
          </a:prstGeom>
        </p:spPr>
      </p:pic>
      <p:sp>
        <p:nvSpPr>
          <p:cNvPr id="34" name="Text 14">
            <a:extLst>
              <a:ext uri="{FF2B5EF4-FFF2-40B4-BE49-F238E27FC236}">
                <a16:creationId xmlns:a16="http://schemas.microsoft.com/office/drawing/2014/main" id="{E6410681-6DAA-7F6B-3094-D44C6D8012E5}"/>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36" name="Rectangle 35">
            <a:extLst>
              <a:ext uri="{FF2B5EF4-FFF2-40B4-BE49-F238E27FC236}">
                <a16:creationId xmlns:a16="http://schemas.microsoft.com/office/drawing/2014/main" id="{AF4A60E9-C033-21ED-995E-8A75A0DC5CB6}"/>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45593849-1AF7-36B2-6D05-08BA4474FA31}"/>
              </a:ext>
            </a:extLst>
          </p:cNvPr>
          <p:cNvSpPr txBox="1"/>
          <p:nvPr/>
        </p:nvSpPr>
        <p:spPr>
          <a:xfrm>
            <a:off x="1334913" y="262839"/>
            <a:ext cx="6778972" cy="369332"/>
          </a:xfrm>
          <a:prstGeom prst="rect">
            <a:avLst/>
          </a:prstGeom>
          <a:noFill/>
        </p:spPr>
        <p:txBody>
          <a:bodyPr wrap="square" rtlCol="0">
            <a:spAutoFit/>
          </a:bodyPr>
          <a:lstStyle/>
          <a:p>
            <a:pPr algn="ctr"/>
            <a:r>
              <a:rPr lang="en-IN" dirty="0">
                <a:solidFill>
                  <a:srgbClr val="FF0000"/>
                </a:solidFill>
              </a:rPr>
              <a:t>Supply Chain Performance — Delivery Failures Identified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39874" y="1071414"/>
            <a:ext cx="4219426" cy="1798737"/>
          </a:xfrm>
          <a:prstGeom prst="roundRect">
            <a:avLst>
              <a:gd name="adj" fmla="val 2814"/>
            </a:avLst>
          </a:prstGeom>
          <a:noFill/>
          <a:ln w="4763">
            <a:solidFill>
              <a:srgbClr val="FFFFFF">
                <a:alpha val="24000"/>
              </a:srgbClr>
            </a:solidFill>
            <a:prstDash val="solid"/>
          </a:ln>
        </p:spPr>
      </p:sp>
      <p:sp>
        <p:nvSpPr>
          <p:cNvPr id="4" name="Text 2"/>
          <p:cNvSpPr/>
          <p:nvPr/>
        </p:nvSpPr>
        <p:spPr>
          <a:xfrm>
            <a:off x="665187" y="1137419"/>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2E6E9"/>
                </a:solidFill>
                <a:effectLst/>
                <a:uLnTx/>
                <a:uFillTx/>
                <a:latin typeface="Merriweather Bold" pitchFamily="34" charset="0"/>
                <a:ea typeface="Merriweather Bold" pitchFamily="34" charset="-122"/>
                <a:cs typeface="Merriweather Bold" pitchFamily="34" charset="-120"/>
              </a:rPr>
              <a:t>Category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685901" y="1137419"/>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2E6E9"/>
                </a:solidFill>
                <a:effectLst/>
                <a:uLnTx/>
                <a:uFillTx/>
                <a:latin typeface="Merriweather Bold" pitchFamily="34" charset="0"/>
                <a:ea typeface="Merriweather Bold" pitchFamily="34" charset="-122"/>
                <a:cs typeface="Merriweather Bold" pitchFamily="34" charset="-120"/>
              </a:rPr>
              <a:t>Revenue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780458" y="1137419"/>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2E6E9"/>
                </a:solidFill>
                <a:effectLst/>
                <a:uLnTx/>
                <a:uFillTx/>
                <a:latin typeface="Merriweather Bold" pitchFamily="34" charset="0"/>
                <a:ea typeface="Merriweather Bold" pitchFamily="34" charset="-122"/>
                <a:cs typeface="Merriweather Bold" pitchFamily="34" charset="-120"/>
              </a:rPr>
              <a:t>Freight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5187" y="1436415"/>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Beauty &amp; Health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2685901" y="1436415"/>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₹1.49M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780458" y="1436415"/>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30.4%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65187" y="1735410"/>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Watches &amp; Gifts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685901" y="1735410"/>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₹1.36M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780458" y="1735410"/>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17.3%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65187" y="2034406"/>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Bed &amp; Bath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685901" y="2034406"/>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₹1.33M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780458" y="2034406"/>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28.9%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65187" y="2333402"/>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Sports &amp; Leisure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685901" y="2333402"/>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₹1.21M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780458" y="2333402"/>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29.5%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65187" y="2632397"/>
            <a:ext cx="2236961"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Phones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2685901" y="2632397"/>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₹0.41M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3780458" y="2632397"/>
            <a:ext cx="1310804"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50.54%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39874" y="2976042"/>
            <a:ext cx="4219426" cy="1092994"/>
          </a:xfrm>
          <a:prstGeom prst="roundRect">
            <a:avLst>
              <a:gd name="adj" fmla="val 4631"/>
            </a:avLst>
          </a:prstGeom>
          <a:solidFill>
            <a:srgbClr val="450707"/>
          </a:solidFill>
          <a:ln/>
        </p:spPr>
      </p:sp>
      <p:pic>
        <p:nvPicPr>
          <p:cNvPr id="23" name="Image 0" descr="preencoded.png"/>
          <p:cNvPicPr>
            <a:picLocks noChangeAspect="1"/>
          </p:cNvPicPr>
          <p:nvPr/>
        </p:nvPicPr>
        <p:blipFill>
          <a:blip r:embed="rId3"/>
          <a:stretch>
            <a:fillRect/>
          </a:stretch>
        </p:blipFill>
        <p:spPr>
          <a:xfrm>
            <a:off x="660350" y="3149724"/>
            <a:ext cx="150614" cy="120476"/>
          </a:xfrm>
          <a:prstGeom prst="rect">
            <a:avLst/>
          </a:prstGeom>
        </p:spPr>
      </p:pic>
      <p:sp>
        <p:nvSpPr>
          <p:cNvPr id="24" name="Text 21"/>
          <p:cNvSpPr/>
          <p:nvPr/>
        </p:nvSpPr>
        <p:spPr>
          <a:xfrm>
            <a:off x="931441" y="3090788"/>
            <a:ext cx="3707383" cy="863501"/>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erriweather" pitchFamily="34" charset="0"/>
                <a:ea typeface="Merriweather" pitchFamily="34" charset="-122"/>
                <a:cs typeface="Merriweather" pitchFamily="34" charset="-120"/>
              </a:rPr>
              <a:t>⚠️</a:t>
            </a:r>
            <a:r>
              <a:rPr kumimoji="0" lang="en-US" sz="900" b="0" i="0" u="none" strike="noStrike" kern="1200" cap="none" spc="0" normalizeH="0" baseline="0" noProof="0" dirty="0">
                <a:ln>
                  <a:noFill/>
                </a:ln>
                <a:solidFill>
                  <a:srgbClr val="FFFFFF"/>
                </a:solidFill>
                <a:effectLst/>
                <a:uLnTx/>
                <a:uFillTx/>
                <a:latin typeface="Merriweather" pitchFamily="34" charset="0"/>
                <a:ea typeface="Merriweather" pitchFamily="34" charset="-122"/>
                <a:cs typeface="Merriweather" pitchFamily="34" charset="-120"/>
              </a:rPr>
              <a:t> PHONES CATEGORY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erriweather" pitchFamily="34" charset="0"/>
                <a:ea typeface="Merriweather" pitchFamily="34" charset="-122"/>
                <a:cs typeface="Merriweather" pitchFamily="34" charset="-120"/>
              </a:rPr>
              <a:t>50.54% Freight Ratio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erriweather" pitchFamily="34" charset="0"/>
                <a:ea typeface="Merriweather" pitchFamily="34" charset="-122"/>
                <a:cs typeface="Merriweather" pitchFamily="34" charset="-120"/>
              </a:rPr>
              <a:t>Highest in entire network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erriweather" pitchFamily="34" charset="0"/>
                <a:ea typeface="Merriweather" pitchFamily="34" charset="-122"/>
                <a:cs typeface="Merriweather" pitchFamily="34" charset="-120"/>
              </a:rPr>
              <a:t>Every ₹2 earned in Phones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erriweather" pitchFamily="34" charset="0"/>
                <a:ea typeface="Merriweather" pitchFamily="34" charset="-122"/>
                <a:cs typeface="Merriweather" pitchFamily="34" charset="-120"/>
              </a:rPr>
              <a:t>₹1 goes to freight costs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p:nvPr/>
        </p:nvSpPr>
        <p:spPr>
          <a:xfrm>
            <a:off x="539874" y="4280818"/>
            <a:ext cx="8521452" cy="171748"/>
          </a:xfrm>
          <a:prstGeom prst="rect">
            <a:avLst/>
          </a:prstGeom>
          <a:noFill/>
          <a:ln/>
        </p:spPr>
        <p:txBody>
          <a:bodyPr wrap="none" lIns="0" tIns="0" rIns="0" bIns="0" rtlCol="0" anchor="t"/>
          <a:lstStyle/>
          <a:p>
            <a:pPr marL="0" marR="0" lvl="0" indent="0" algn="l" defTabSz="914400" rtl="0" eaLnBrk="1" fontAlgn="auto" latinLnBrk="0" hangingPunct="1">
              <a:lnSpc>
                <a:spcPct val="119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2E6E9"/>
                </a:solidFill>
                <a:effectLst/>
                <a:uLnTx/>
                <a:uFillTx/>
                <a:latin typeface="Merriweather Bold" pitchFamily="34" charset="0"/>
                <a:ea typeface="Merriweather Bold" pitchFamily="34" charset="-122"/>
                <a:cs typeface="Merriweather Bold" pitchFamily="34" charset="-120"/>
              </a:rPr>
              <a:t>Seller insight:</a:t>
            </a: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 Feira De Santana,BA shows </a:t>
            </a:r>
            <a:r>
              <a:rPr kumimoji="0" lang="en-US" sz="900" b="0" i="0" u="none" strike="noStrike" kern="1200" cap="none" spc="0" normalizeH="0" baseline="0" noProof="0" dirty="0">
                <a:ln>
                  <a:noFill/>
                </a:ln>
                <a:solidFill>
                  <a:srgbClr val="FFFF00"/>
                </a:solidFill>
                <a:effectLst/>
                <a:uLnTx/>
                <a:uFillTx/>
                <a:latin typeface="Merriweather" pitchFamily="34" charset="0"/>
                <a:ea typeface="Merriweather" pitchFamily="34" charset="-122"/>
                <a:cs typeface="Merriweather" pitchFamily="34" charset="-120"/>
              </a:rPr>
              <a:t>33.67</a:t>
            </a: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 days delay with only </a:t>
            </a:r>
            <a:r>
              <a:rPr kumimoji="0" lang="en-US" sz="900" b="0" i="0" u="none" strike="noStrike" kern="1200" cap="none" spc="0" normalizeH="0" baseline="0" noProof="0" dirty="0">
                <a:ln>
                  <a:noFill/>
                </a:ln>
                <a:solidFill>
                  <a:srgbClr val="FFFF00"/>
                </a:solidFill>
                <a:effectLst/>
                <a:uLnTx/>
                <a:uFillTx/>
                <a:latin typeface="Merriweather" pitchFamily="34" charset="0"/>
                <a:ea typeface="Merriweather" pitchFamily="34" charset="-122"/>
                <a:cs typeface="Merriweather" pitchFamily="34" charset="-120"/>
              </a:rPr>
              <a:t>₹1,296 </a:t>
            </a:r>
            <a:r>
              <a:rPr kumimoji="0" lang="en-US" sz="9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revenue — low value, high cost seller identified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Picture 28">
            <a:extLst>
              <a:ext uri="{FF2B5EF4-FFF2-40B4-BE49-F238E27FC236}">
                <a16:creationId xmlns:a16="http://schemas.microsoft.com/office/drawing/2014/main" id="{6E7930AA-4C94-9A28-1BEC-C816F410A2AF}"/>
              </a:ext>
            </a:extLst>
          </p:cNvPr>
          <p:cNvPicPr>
            <a:picLocks noChangeAspect="1"/>
          </p:cNvPicPr>
          <p:nvPr/>
        </p:nvPicPr>
        <p:blipFill>
          <a:blip r:embed="rId4"/>
          <a:stretch>
            <a:fillRect/>
          </a:stretch>
        </p:blipFill>
        <p:spPr>
          <a:xfrm>
            <a:off x="5150867" y="971528"/>
            <a:ext cx="3453259" cy="3097508"/>
          </a:xfrm>
          <a:prstGeom prst="rect">
            <a:avLst/>
          </a:prstGeom>
        </p:spPr>
      </p:pic>
      <p:sp>
        <p:nvSpPr>
          <p:cNvPr id="31" name="Text 14">
            <a:extLst>
              <a:ext uri="{FF2B5EF4-FFF2-40B4-BE49-F238E27FC236}">
                <a16:creationId xmlns:a16="http://schemas.microsoft.com/office/drawing/2014/main" id="{C840486E-5186-23BE-AD36-FFD71260D269}"/>
              </a:ext>
            </a:extLst>
          </p:cNvPr>
          <p:cNvSpPr/>
          <p:nvPr/>
        </p:nvSpPr>
        <p:spPr>
          <a:xfrm>
            <a:off x="568226" y="4820636"/>
            <a:ext cx="8521452" cy="107231"/>
          </a:xfrm>
          <a:prstGeom prst="rect">
            <a:avLst/>
          </a:prstGeom>
          <a:noFill/>
          <a:ln/>
        </p:spPr>
        <p:txBody>
          <a:bodyPr wrap="none" lIns="0" tIns="0" rIns="0" bIns="0" rtlCol="0" anchor="t"/>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E2E6E9"/>
                </a:solidFill>
                <a:effectLst/>
                <a:uLnTx/>
                <a:uFillTx/>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DF6339F5-21F2-B56B-5C86-4D561D5D3EE2}"/>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AAC9174A-7E47-0A8F-4631-CDD42E57A252}"/>
              </a:ext>
            </a:extLst>
          </p:cNvPr>
          <p:cNvSpPr txBox="1"/>
          <p:nvPr/>
        </p:nvSpPr>
        <p:spPr>
          <a:xfrm>
            <a:off x="1280385" y="311639"/>
            <a:ext cx="677897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Product Category and Seller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27854" y="967363"/>
            <a:ext cx="477292" cy="97036"/>
          </a:xfrm>
          <a:prstGeom prst="rect">
            <a:avLst/>
          </a:prstGeom>
          <a:noFill/>
          <a:ln/>
        </p:spPr>
        <p:txBody>
          <a:bodyPr wrap="none" lIns="0" tIns="0" rIns="0" bIns="0" rtlCol="0" anchor="t"/>
          <a:lstStyle/>
          <a:p>
            <a:pPr marL="0" indent="0" algn="ctr">
              <a:lnSpc>
                <a:spcPct val="83000"/>
              </a:lnSpc>
              <a:buNone/>
            </a:pPr>
            <a:r>
              <a:rPr lang="en-US" sz="750" dirty="0">
                <a:solidFill>
                  <a:srgbClr val="E2E6E9"/>
                </a:solidFill>
                <a:latin typeface="Merriweather" pitchFamily="34" charset="0"/>
                <a:ea typeface="Merriweather" pitchFamily="34" charset="-122"/>
                <a:cs typeface="Merriweather" pitchFamily="34" charset="-120"/>
              </a:rPr>
              <a:t>14.24%</a:t>
            </a:r>
            <a:endParaRPr lang="en-US" sz="750" dirty="0"/>
          </a:p>
        </p:txBody>
      </p:sp>
      <p:pic>
        <p:nvPicPr>
          <p:cNvPr id="4" name="Image 0" descr="preencoded.png"/>
          <p:cNvPicPr>
            <a:picLocks noChangeAspect="1"/>
          </p:cNvPicPr>
          <p:nvPr/>
        </p:nvPicPr>
        <p:blipFill>
          <a:blip r:embed="rId3"/>
          <a:stretch>
            <a:fillRect/>
          </a:stretch>
        </p:blipFill>
        <p:spPr>
          <a:xfrm>
            <a:off x="175467" y="744716"/>
            <a:ext cx="582067" cy="582067"/>
          </a:xfrm>
          <a:prstGeom prst="rect">
            <a:avLst/>
          </a:prstGeom>
        </p:spPr>
      </p:pic>
      <p:sp>
        <p:nvSpPr>
          <p:cNvPr id="5" name="Text 2"/>
          <p:cNvSpPr/>
          <p:nvPr/>
        </p:nvSpPr>
        <p:spPr>
          <a:xfrm>
            <a:off x="735413" y="878535"/>
            <a:ext cx="1811360" cy="468361"/>
          </a:xfrm>
          <a:prstGeom prst="rect">
            <a:avLst/>
          </a:prstGeom>
          <a:noFill/>
          <a:ln/>
        </p:spPr>
        <p:txBody>
          <a:bodyPr wrap="square" lIns="0" tIns="0" rIns="0" bIns="0" rtlCol="0" anchor="t"/>
          <a:lstStyle/>
          <a:p>
            <a:pPr marL="0" indent="0" algn="ctr">
              <a:lnSpc>
                <a:spcPct val="115000"/>
              </a:lnSpc>
              <a:spcAft>
                <a:spcPts val="350"/>
              </a:spcAft>
              <a:buNone/>
            </a:pPr>
            <a:r>
              <a:rPr lang="en-US" sz="700" dirty="0">
                <a:solidFill>
                  <a:srgbClr val="E2E6E9"/>
                </a:solidFill>
                <a:latin typeface="Merriweather" pitchFamily="34" charset="0"/>
                <a:ea typeface="Merriweather" pitchFamily="34" charset="-122"/>
                <a:cs typeface="Merriweather" pitchFamily="34" charset="-120"/>
              </a:rPr>
              <a:t>Freight to Revenue Ratio</a:t>
            </a:r>
            <a:endParaRPr lang="en-US" sz="700" dirty="0"/>
          </a:p>
          <a:p>
            <a:pPr marL="0" indent="0" algn="ctr">
              <a:lnSpc>
                <a:spcPct val="115000"/>
              </a:lnSpc>
              <a:buNone/>
            </a:pPr>
            <a:r>
              <a:rPr lang="en-US" sz="700" dirty="0">
                <a:solidFill>
                  <a:srgbClr val="E2E6E9"/>
                </a:solidFill>
                <a:latin typeface="Merriweather" pitchFamily="34" charset="0"/>
                <a:ea typeface="Merriweather" pitchFamily="34" charset="-122"/>
                <a:cs typeface="Merriweather" pitchFamily="34" charset="-120"/>
              </a:rPr>
              <a:t>Share of revenue absorbed by transit operations</a:t>
            </a:r>
            <a:endParaRPr lang="en-US" sz="700" dirty="0"/>
          </a:p>
        </p:txBody>
      </p:sp>
      <p:sp>
        <p:nvSpPr>
          <p:cNvPr id="6" name="Text 3"/>
          <p:cNvSpPr/>
          <p:nvPr/>
        </p:nvSpPr>
        <p:spPr>
          <a:xfrm>
            <a:off x="225250" y="1654575"/>
            <a:ext cx="477292" cy="97036"/>
          </a:xfrm>
          <a:prstGeom prst="rect">
            <a:avLst/>
          </a:prstGeom>
          <a:noFill/>
          <a:ln/>
        </p:spPr>
        <p:txBody>
          <a:bodyPr wrap="none" lIns="0" tIns="0" rIns="0" bIns="0" rtlCol="0" anchor="t"/>
          <a:lstStyle/>
          <a:p>
            <a:pPr marL="0" indent="0" algn="ctr">
              <a:lnSpc>
                <a:spcPct val="83000"/>
              </a:lnSpc>
              <a:buNone/>
            </a:pPr>
            <a:r>
              <a:rPr lang="en-US" sz="750" dirty="0">
                <a:solidFill>
                  <a:srgbClr val="E2E6E9"/>
                </a:solidFill>
                <a:latin typeface="Merriweather" pitchFamily="34" charset="0"/>
                <a:ea typeface="Merriweather" pitchFamily="34" charset="-122"/>
                <a:cs typeface="Merriweather" pitchFamily="34" charset="-120"/>
              </a:rPr>
              <a:t>₹2.37M</a:t>
            </a:r>
            <a:endParaRPr lang="en-US" sz="750" dirty="0"/>
          </a:p>
        </p:txBody>
      </p:sp>
      <p:pic>
        <p:nvPicPr>
          <p:cNvPr id="7" name="Image 1" descr="preencoded.png"/>
          <p:cNvPicPr>
            <a:picLocks noChangeAspect="1"/>
          </p:cNvPicPr>
          <p:nvPr/>
        </p:nvPicPr>
        <p:blipFill>
          <a:blip r:embed="rId4"/>
          <a:stretch>
            <a:fillRect/>
          </a:stretch>
        </p:blipFill>
        <p:spPr>
          <a:xfrm>
            <a:off x="190436" y="1437268"/>
            <a:ext cx="582067" cy="582067"/>
          </a:xfrm>
          <a:prstGeom prst="rect">
            <a:avLst/>
          </a:prstGeom>
        </p:spPr>
      </p:pic>
      <p:sp>
        <p:nvSpPr>
          <p:cNvPr id="8" name="Text 4"/>
          <p:cNvSpPr/>
          <p:nvPr/>
        </p:nvSpPr>
        <p:spPr>
          <a:xfrm>
            <a:off x="702542" y="1538873"/>
            <a:ext cx="1811360" cy="404833"/>
          </a:xfrm>
          <a:prstGeom prst="rect">
            <a:avLst/>
          </a:prstGeom>
          <a:noFill/>
          <a:ln/>
        </p:spPr>
        <p:txBody>
          <a:bodyPr wrap="square" lIns="0" tIns="0" rIns="0" bIns="0" rtlCol="0" anchor="t"/>
          <a:lstStyle/>
          <a:p>
            <a:pPr marL="0" indent="0" algn="ctr">
              <a:lnSpc>
                <a:spcPct val="115000"/>
              </a:lnSpc>
              <a:spcAft>
                <a:spcPts val="350"/>
              </a:spcAft>
              <a:buNone/>
            </a:pPr>
            <a:r>
              <a:rPr lang="en-US" sz="700" dirty="0">
                <a:solidFill>
                  <a:srgbClr val="E2E6E9"/>
                </a:solidFill>
                <a:latin typeface="Merriweather" pitchFamily="34" charset="0"/>
                <a:ea typeface="Merriweather" pitchFamily="34" charset="-122"/>
                <a:cs typeface="Merriweather" pitchFamily="34" charset="-120"/>
              </a:rPr>
              <a:t>Total Freight Cost Annual</a:t>
            </a:r>
            <a:endParaRPr lang="en-US" sz="700" dirty="0"/>
          </a:p>
          <a:p>
            <a:pPr marL="0" indent="0" algn="ctr">
              <a:lnSpc>
                <a:spcPct val="115000"/>
              </a:lnSpc>
              <a:buNone/>
            </a:pPr>
            <a:r>
              <a:rPr lang="en-US" sz="700" dirty="0">
                <a:solidFill>
                  <a:srgbClr val="E2E6E9"/>
                </a:solidFill>
                <a:latin typeface="Merriweather" pitchFamily="34" charset="0"/>
                <a:ea typeface="Merriweather" pitchFamily="34" charset="-122"/>
                <a:cs typeface="Merriweather" pitchFamily="34" charset="-120"/>
              </a:rPr>
              <a:t>Annual freight leakage across the network</a:t>
            </a:r>
            <a:endParaRPr lang="en-US" sz="700" dirty="0"/>
          </a:p>
        </p:txBody>
      </p:sp>
      <p:sp>
        <p:nvSpPr>
          <p:cNvPr id="9" name="Text 5"/>
          <p:cNvSpPr/>
          <p:nvPr/>
        </p:nvSpPr>
        <p:spPr>
          <a:xfrm>
            <a:off x="225250" y="2352069"/>
            <a:ext cx="477292" cy="97036"/>
          </a:xfrm>
          <a:prstGeom prst="rect">
            <a:avLst/>
          </a:prstGeom>
          <a:noFill/>
          <a:ln/>
        </p:spPr>
        <p:txBody>
          <a:bodyPr wrap="none" lIns="0" tIns="0" rIns="0" bIns="0" rtlCol="0" anchor="t"/>
          <a:lstStyle/>
          <a:p>
            <a:pPr marL="0" indent="0" algn="ctr">
              <a:lnSpc>
                <a:spcPct val="83000"/>
              </a:lnSpc>
              <a:buNone/>
            </a:pPr>
            <a:r>
              <a:rPr lang="en-US" sz="750" dirty="0">
                <a:solidFill>
                  <a:srgbClr val="E2E6E9"/>
                </a:solidFill>
                <a:latin typeface="Merriweather" pitchFamily="34" charset="0"/>
                <a:ea typeface="Merriweather" pitchFamily="34" charset="-122"/>
                <a:cs typeface="Merriweather" pitchFamily="34" charset="-120"/>
              </a:rPr>
              <a:t>₹20.42M</a:t>
            </a:r>
            <a:endParaRPr lang="en-US" sz="750" dirty="0"/>
          </a:p>
        </p:txBody>
      </p:sp>
      <p:pic>
        <p:nvPicPr>
          <p:cNvPr id="10" name="Image 2" descr="preencoded.png"/>
          <p:cNvPicPr>
            <a:picLocks noChangeAspect="1"/>
          </p:cNvPicPr>
          <p:nvPr/>
        </p:nvPicPr>
        <p:blipFill>
          <a:blip r:embed="rId5"/>
          <a:stretch>
            <a:fillRect/>
          </a:stretch>
        </p:blipFill>
        <p:spPr>
          <a:xfrm>
            <a:off x="190436" y="2121249"/>
            <a:ext cx="582067" cy="582067"/>
          </a:xfrm>
          <a:prstGeom prst="rect">
            <a:avLst/>
          </a:prstGeom>
        </p:spPr>
      </p:pic>
      <p:sp>
        <p:nvSpPr>
          <p:cNvPr id="11" name="Text 6"/>
          <p:cNvSpPr/>
          <p:nvPr/>
        </p:nvSpPr>
        <p:spPr>
          <a:xfrm>
            <a:off x="801117" y="2238483"/>
            <a:ext cx="1745656" cy="404833"/>
          </a:xfrm>
          <a:prstGeom prst="rect">
            <a:avLst/>
          </a:prstGeom>
          <a:noFill/>
          <a:ln/>
        </p:spPr>
        <p:txBody>
          <a:bodyPr wrap="square" lIns="0" tIns="0" rIns="0" bIns="0" rtlCol="0" anchor="t"/>
          <a:lstStyle/>
          <a:p>
            <a:pPr marL="0" indent="0" algn="ctr">
              <a:lnSpc>
                <a:spcPct val="115000"/>
              </a:lnSpc>
              <a:spcAft>
                <a:spcPts val="350"/>
              </a:spcAft>
              <a:buNone/>
            </a:pPr>
            <a:r>
              <a:rPr lang="en-US" sz="700" dirty="0">
                <a:solidFill>
                  <a:srgbClr val="E2E6E9"/>
                </a:solidFill>
                <a:latin typeface="Merriweather" pitchFamily="34" charset="0"/>
                <a:ea typeface="Merriweather" pitchFamily="34" charset="-122"/>
                <a:cs typeface="Merriweather" pitchFamily="34" charset="-120"/>
              </a:rPr>
              <a:t>Total Payment Value Processed</a:t>
            </a:r>
            <a:endParaRPr lang="en-US" sz="700" dirty="0"/>
          </a:p>
          <a:p>
            <a:pPr marL="0" indent="0" algn="ctr">
              <a:lnSpc>
                <a:spcPct val="115000"/>
              </a:lnSpc>
              <a:buNone/>
            </a:pPr>
            <a:r>
              <a:rPr lang="en-US" sz="700" dirty="0">
                <a:solidFill>
                  <a:srgbClr val="E2E6E9"/>
                </a:solidFill>
                <a:latin typeface="Merriweather" pitchFamily="34" charset="0"/>
                <a:ea typeface="Merriweather" pitchFamily="34" charset="-122"/>
                <a:cs typeface="Merriweather" pitchFamily="34" charset="-120"/>
              </a:rPr>
              <a:t>Overall transaction volume across payment modes</a:t>
            </a:r>
            <a:endParaRPr lang="en-US" sz="700" dirty="0"/>
          </a:p>
        </p:txBody>
      </p:sp>
      <p:sp>
        <p:nvSpPr>
          <p:cNvPr id="13" name="Text 8"/>
          <p:cNvSpPr/>
          <p:nvPr/>
        </p:nvSpPr>
        <p:spPr>
          <a:xfrm>
            <a:off x="386386" y="3292421"/>
            <a:ext cx="1411172" cy="57001"/>
          </a:xfrm>
          <a:prstGeom prst="rect">
            <a:avLst/>
          </a:prstGeom>
          <a:noFill/>
          <a:ln/>
        </p:spPr>
        <p:txBody>
          <a:bodyPr wrap="none" lIns="0" tIns="0" rIns="0" bIns="0" rtlCol="0" anchor="t"/>
          <a:lstStyle/>
          <a:p>
            <a:pPr marL="0" indent="0" algn="l">
              <a:lnSpc>
                <a:spcPct val="104000"/>
              </a:lnSpc>
              <a:buNone/>
            </a:pPr>
            <a:r>
              <a:rPr lang="en-US" sz="800" dirty="0">
                <a:solidFill>
                  <a:srgbClr val="F5F0F0"/>
                </a:solidFill>
                <a:latin typeface="Merriweather" pitchFamily="34" charset="0"/>
                <a:ea typeface="Merriweather" pitchFamily="34" charset="-122"/>
                <a:cs typeface="Merriweather" pitchFamily="34" charset="-120"/>
              </a:rPr>
              <a:t>Payment Split Table</a:t>
            </a:r>
            <a:endParaRPr lang="en-US" sz="800" dirty="0"/>
          </a:p>
        </p:txBody>
      </p:sp>
      <p:sp>
        <p:nvSpPr>
          <p:cNvPr id="15" name="Text 10"/>
          <p:cNvSpPr/>
          <p:nvPr/>
        </p:nvSpPr>
        <p:spPr>
          <a:xfrm>
            <a:off x="386386" y="3535486"/>
            <a:ext cx="1626075" cy="50145"/>
          </a:xfrm>
          <a:prstGeom prst="rect">
            <a:avLst/>
          </a:prstGeom>
          <a:noFill/>
          <a:ln/>
        </p:spPr>
        <p:txBody>
          <a:bodyPr wrap="none" lIns="0" tIns="0" rIns="0" bIns="0" rtlCol="0" anchor="t"/>
          <a:lstStyle/>
          <a:p>
            <a:pPr marL="0" indent="0" algn="l">
              <a:lnSpc>
                <a:spcPct val="115000"/>
              </a:lnSpc>
              <a:buNone/>
            </a:pPr>
            <a:r>
              <a:rPr lang="en-US" sz="800" b="1" dirty="0">
                <a:solidFill>
                  <a:srgbClr val="E2E6E9"/>
                </a:solidFill>
                <a:latin typeface="Merriweather Bold" pitchFamily="34" charset="0"/>
                <a:ea typeface="Merriweather Bold" pitchFamily="34" charset="-122"/>
                <a:cs typeface="Merriweather Bold" pitchFamily="34" charset="-120"/>
              </a:rPr>
              <a:t>Settlement Mode</a:t>
            </a:r>
            <a:endParaRPr lang="en-US" sz="800" dirty="0"/>
          </a:p>
        </p:txBody>
      </p:sp>
      <p:sp>
        <p:nvSpPr>
          <p:cNvPr id="16" name="Text 11"/>
          <p:cNvSpPr/>
          <p:nvPr/>
        </p:nvSpPr>
        <p:spPr>
          <a:xfrm>
            <a:off x="2274791" y="3535486"/>
            <a:ext cx="1115765" cy="50145"/>
          </a:xfrm>
          <a:prstGeom prst="rect">
            <a:avLst/>
          </a:prstGeom>
          <a:noFill/>
          <a:ln/>
        </p:spPr>
        <p:txBody>
          <a:bodyPr wrap="none" lIns="0" tIns="0" rIns="0" bIns="0" rtlCol="0" anchor="t"/>
          <a:lstStyle/>
          <a:p>
            <a:pPr marL="0" indent="0" algn="l">
              <a:lnSpc>
                <a:spcPct val="115000"/>
              </a:lnSpc>
              <a:buNone/>
            </a:pPr>
            <a:r>
              <a:rPr lang="en-US" sz="800" b="1" dirty="0">
                <a:solidFill>
                  <a:srgbClr val="E2E6E9"/>
                </a:solidFill>
                <a:latin typeface="Merriweather Bold" pitchFamily="34" charset="0"/>
                <a:ea typeface="Merriweather Bold" pitchFamily="34" charset="-122"/>
                <a:cs typeface="Merriweather Bold" pitchFamily="34" charset="-120"/>
              </a:rPr>
              <a:t>Share</a:t>
            </a:r>
            <a:endParaRPr lang="en-US" sz="800" dirty="0"/>
          </a:p>
        </p:txBody>
      </p:sp>
      <p:sp>
        <p:nvSpPr>
          <p:cNvPr id="17" name="Text 12"/>
          <p:cNvSpPr/>
          <p:nvPr/>
        </p:nvSpPr>
        <p:spPr>
          <a:xfrm>
            <a:off x="3496670" y="3535486"/>
            <a:ext cx="1115765" cy="50145"/>
          </a:xfrm>
          <a:prstGeom prst="rect">
            <a:avLst/>
          </a:prstGeom>
          <a:noFill/>
          <a:ln/>
        </p:spPr>
        <p:txBody>
          <a:bodyPr wrap="none" lIns="0" tIns="0" rIns="0" bIns="0" rtlCol="0" anchor="t"/>
          <a:lstStyle/>
          <a:p>
            <a:pPr marL="0" indent="0" algn="l">
              <a:lnSpc>
                <a:spcPct val="115000"/>
              </a:lnSpc>
              <a:buNone/>
            </a:pPr>
            <a:r>
              <a:rPr lang="en-US" sz="800" b="1" dirty="0">
                <a:solidFill>
                  <a:srgbClr val="E2E6E9"/>
                </a:solidFill>
                <a:latin typeface="Merriweather Bold" pitchFamily="34" charset="0"/>
                <a:ea typeface="Merriweather Bold" pitchFamily="34" charset="-122"/>
                <a:cs typeface="Merriweather Bold" pitchFamily="34" charset="-120"/>
              </a:rPr>
              <a:t>Gross Value</a:t>
            </a:r>
            <a:endParaRPr lang="en-US" sz="800" dirty="0"/>
          </a:p>
        </p:txBody>
      </p:sp>
      <p:sp>
        <p:nvSpPr>
          <p:cNvPr id="18" name="Text 13"/>
          <p:cNvSpPr/>
          <p:nvPr/>
        </p:nvSpPr>
        <p:spPr>
          <a:xfrm>
            <a:off x="4718549" y="3535486"/>
            <a:ext cx="1115765" cy="50145"/>
          </a:xfrm>
          <a:prstGeom prst="rect">
            <a:avLst/>
          </a:prstGeom>
          <a:noFill/>
          <a:ln/>
        </p:spPr>
        <p:txBody>
          <a:bodyPr wrap="none" lIns="0" tIns="0" rIns="0" bIns="0" rtlCol="0" anchor="t"/>
          <a:lstStyle/>
          <a:p>
            <a:pPr marL="0" indent="0" algn="l">
              <a:lnSpc>
                <a:spcPct val="115000"/>
              </a:lnSpc>
              <a:buNone/>
            </a:pPr>
            <a:r>
              <a:rPr lang="en-US" sz="800" b="1" dirty="0">
                <a:solidFill>
                  <a:srgbClr val="E2E6E9"/>
                </a:solidFill>
                <a:latin typeface="Merriweather Bold" pitchFamily="34" charset="0"/>
                <a:ea typeface="Merriweather Bold" pitchFamily="34" charset="-122"/>
                <a:cs typeface="Merriweather Bold" pitchFamily="34" charset="-120"/>
              </a:rPr>
              <a:t>Category</a:t>
            </a:r>
            <a:endParaRPr lang="en-US" sz="800" dirty="0"/>
          </a:p>
        </p:txBody>
      </p:sp>
      <p:sp>
        <p:nvSpPr>
          <p:cNvPr id="19" name="Text 14"/>
          <p:cNvSpPr/>
          <p:nvPr/>
        </p:nvSpPr>
        <p:spPr>
          <a:xfrm>
            <a:off x="386386" y="3797722"/>
            <a:ext cx="162607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Credit Card</a:t>
            </a:r>
            <a:endParaRPr lang="en-US" sz="800" dirty="0"/>
          </a:p>
        </p:txBody>
      </p:sp>
      <p:sp>
        <p:nvSpPr>
          <p:cNvPr id="20" name="Text 15"/>
          <p:cNvSpPr/>
          <p:nvPr/>
        </p:nvSpPr>
        <p:spPr>
          <a:xfrm>
            <a:off x="2274791" y="379772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67.2%</a:t>
            </a:r>
            <a:endParaRPr lang="en-US" sz="800" dirty="0"/>
          </a:p>
        </p:txBody>
      </p:sp>
      <p:sp>
        <p:nvSpPr>
          <p:cNvPr id="21" name="Text 16"/>
          <p:cNvSpPr/>
          <p:nvPr/>
        </p:nvSpPr>
        <p:spPr>
          <a:xfrm>
            <a:off x="3496670" y="379772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₹15.78M</a:t>
            </a:r>
            <a:endParaRPr lang="en-US" sz="800" dirty="0"/>
          </a:p>
        </p:txBody>
      </p:sp>
      <p:sp>
        <p:nvSpPr>
          <p:cNvPr id="22" name="Text 17"/>
          <p:cNvSpPr/>
          <p:nvPr/>
        </p:nvSpPr>
        <p:spPr>
          <a:xfrm>
            <a:off x="4718549" y="379772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Primary</a:t>
            </a:r>
            <a:endParaRPr lang="en-US" sz="800" dirty="0"/>
          </a:p>
        </p:txBody>
      </p:sp>
      <p:sp>
        <p:nvSpPr>
          <p:cNvPr id="23" name="Text 18"/>
          <p:cNvSpPr/>
          <p:nvPr/>
        </p:nvSpPr>
        <p:spPr>
          <a:xfrm>
            <a:off x="386386" y="4059957"/>
            <a:ext cx="162607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Boleto</a:t>
            </a:r>
            <a:endParaRPr lang="en-US" sz="800" dirty="0"/>
          </a:p>
        </p:txBody>
      </p:sp>
      <p:sp>
        <p:nvSpPr>
          <p:cNvPr id="24" name="Text 19"/>
          <p:cNvSpPr/>
          <p:nvPr/>
        </p:nvSpPr>
        <p:spPr>
          <a:xfrm>
            <a:off x="2274791" y="405995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15.04%</a:t>
            </a:r>
            <a:endParaRPr lang="en-US" sz="800" dirty="0"/>
          </a:p>
        </p:txBody>
      </p:sp>
      <p:sp>
        <p:nvSpPr>
          <p:cNvPr id="25" name="Text 20"/>
          <p:cNvSpPr/>
          <p:nvPr/>
        </p:nvSpPr>
        <p:spPr>
          <a:xfrm>
            <a:off x="3496670" y="405995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₹4.16M</a:t>
            </a:r>
            <a:endParaRPr lang="en-US" sz="800" dirty="0"/>
          </a:p>
        </p:txBody>
      </p:sp>
      <p:sp>
        <p:nvSpPr>
          <p:cNvPr id="26" name="Text 21"/>
          <p:cNvSpPr/>
          <p:nvPr/>
        </p:nvSpPr>
        <p:spPr>
          <a:xfrm>
            <a:off x="4718549" y="405995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Secondary</a:t>
            </a:r>
            <a:endParaRPr lang="en-US" sz="800" dirty="0"/>
          </a:p>
        </p:txBody>
      </p:sp>
      <p:sp>
        <p:nvSpPr>
          <p:cNvPr id="27" name="Text 22"/>
          <p:cNvSpPr/>
          <p:nvPr/>
        </p:nvSpPr>
        <p:spPr>
          <a:xfrm>
            <a:off x="386386" y="4322192"/>
            <a:ext cx="162607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Voucher</a:t>
            </a:r>
            <a:endParaRPr lang="en-US" sz="800" dirty="0"/>
          </a:p>
        </p:txBody>
      </p:sp>
      <p:sp>
        <p:nvSpPr>
          <p:cNvPr id="28" name="Text 23"/>
          <p:cNvSpPr/>
          <p:nvPr/>
        </p:nvSpPr>
        <p:spPr>
          <a:xfrm>
            <a:off x="2274791" y="432219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9.25%</a:t>
            </a:r>
            <a:endParaRPr lang="en-US" sz="800" dirty="0"/>
          </a:p>
        </p:txBody>
      </p:sp>
      <p:sp>
        <p:nvSpPr>
          <p:cNvPr id="29" name="Text 24"/>
          <p:cNvSpPr/>
          <p:nvPr/>
        </p:nvSpPr>
        <p:spPr>
          <a:xfrm>
            <a:off x="3496670" y="432219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₹0.46M</a:t>
            </a:r>
            <a:endParaRPr lang="en-US" sz="800" dirty="0"/>
          </a:p>
        </p:txBody>
      </p:sp>
      <p:sp>
        <p:nvSpPr>
          <p:cNvPr id="30" name="Text 25"/>
          <p:cNvSpPr/>
          <p:nvPr/>
        </p:nvSpPr>
        <p:spPr>
          <a:xfrm>
            <a:off x="4718549" y="4322192"/>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Secondary</a:t>
            </a:r>
            <a:endParaRPr lang="en-US" sz="800" dirty="0"/>
          </a:p>
        </p:txBody>
      </p:sp>
      <p:sp>
        <p:nvSpPr>
          <p:cNvPr id="31" name="Text 26"/>
          <p:cNvSpPr/>
          <p:nvPr/>
        </p:nvSpPr>
        <p:spPr>
          <a:xfrm>
            <a:off x="386386" y="4584427"/>
            <a:ext cx="162607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Debit Card</a:t>
            </a:r>
            <a:endParaRPr lang="en-US" sz="800" dirty="0"/>
          </a:p>
        </p:txBody>
      </p:sp>
      <p:sp>
        <p:nvSpPr>
          <p:cNvPr id="32" name="Text 27"/>
          <p:cNvSpPr/>
          <p:nvPr/>
        </p:nvSpPr>
        <p:spPr>
          <a:xfrm>
            <a:off x="2274791" y="458442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4.16%</a:t>
            </a:r>
            <a:endParaRPr lang="en-US" sz="800" dirty="0"/>
          </a:p>
        </p:txBody>
      </p:sp>
      <p:sp>
        <p:nvSpPr>
          <p:cNvPr id="33" name="Text 28"/>
          <p:cNvSpPr/>
          <p:nvPr/>
        </p:nvSpPr>
        <p:spPr>
          <a:xfrm>
            <a:off x="3496670" y="458442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₹0.30M</a:t>
            </a:r>
            <a:endParaRPr lang="en-US" sz="800" dirty="0"/>
          </a:p>
        </p:txBody>
      </p:sp>
      <p:sp>
        <p:nvSpPr>
          <p:cNvPr id="34" name="Text 29"/>
          <p:cNvSpPr/>
          <p:nvPr/>
        </p:nvSpPr>
        <p:spPr>
          <a:xfrm>
            <a:off x="4718549" y="4584427"/>
            <a:ext cx="1115765" cy="50145"/>
          </a:xfrm>
          <a:prstGeom prst="rect">
            <a:avLst/>
          </a:prstGeom>
          <a:noFill/>
          <a:ln/>
        </p:spPr>
        <p:txBody>
          <a:bodyPr wrap="none" lIns="0" tIns="0" rIns="0" bIns="0" rtlCol="0" anchor="t"/>
          <a:lstStyle/>
          <a:p>
            <a:pPr marL="0" indent="0" algn="l">
              <a:lnSpc>
                <a:spcPct val="115000"/>
              </a:lnSpc>
              <a:buNone/>
            </a:pPr>
            <a:r>
              <a:rPr lang="en-US" sz="800" dirty="0">
                <a:solidFill>
                  <a:srgbClr val="E2E6E9"/>
                </a:solidFill>
                <a:latin typeface="Merriweather" pitchFamily="34" charset="0"/>
                <a:ea typeface="Merriweather" pitchFamily="34" charset="-122"/>
                <a:cs typeface="Merriweather" pitchFamily="34" charset="-120"/>
              </a:rPr>
              <a:t>Secondary</a:t>
            </a:r>
            <a:endParaRPr lang="en-US" sz="800" dirty="0"/>
          </a:p>
        </p:txBody>
      </p:sp>
      <p:sp>
        <p:nvSpPr>
          <p:cNvPr id="35" name="Shape 30"/>
          <p:cNvSpPr/>
          <p:nvPr/>
        </p:nvSpPr>
        <p:spPr>
          <a:xfrm>
            <a:off x="6088227" y="3698517"/>
            <a:ext cx="2229966" cy="879946"/>
          </a:xfrm>
          <a:prstGeom prst="roundRect">
            <a:avLst>
              <a:gd name="adj" fmla="val 5292"/>
            </a:avLst>
          </a:prstGeom>
          <a:solidFill>
            <a:srgbClr val="003180"/>
          </a:solidFill>
          <a:ln/>
        </p:spPr>
      </p:sp>
      <p:pic>
        <p:nvPicPr>
          <p:cNvPr id="36" name="Image 3" descr="preencoded.png"/>
          <p:cNvPicPr>
            <a:picLocks noChangeAspect="1"/>
          </p:cNvPicPr>
          <p:nvPr/>
        </p:nvPicPr>
        <p:blipFill>
          <a:blip r:embed="rId6"/>
          <a:stretch>
            <a:fillRect/>
          </a:stretch>
        </p:blipFill>
        <p:spPr>
          <a:xfrm>
            <a:off x="6199104" y="3854340"/>
            <a:ext cx="138559" cy="110877"/>
          </a:xfrm>
          <a:prstGeom prst="rect">
            <a:avLst/>
          </a:prstGeom>
        </p:spPr>
      </p:pic>
      <p:sp>
        <p:nvSpPr>
          <p:cNvPr id="37" name="Text 31"/>
          <p:cNvSpPr/>
          <p:nvPr/>
        </p:nvSpPr>
        <p:spPr>
          <a:xfrm>
            <a:off x="6448540" y="3797859"/>
            <a:ext cx="1758776" cy="681261"/>
          </a:xfrm>
          <a:prstGeom prst="rect">
            <a:avLst/>
          </a:prstGeom>
          <a:noFill/>
          <a:ln/>
        </p:spPr>
        <p:txBody>
          <a:bodyPr wrap="square" lIns="0" tIns="0" rIns="0" bIns="0" rtlCol="0" anchor="t"/>
          <a:lstStyle/>
          <a:p>
            <a:pPr marL="0" indent="0" algn="l">
              <a:lnSpc>
                <a:spcPct val="115000"/>
              </a:lnSpc>
              <a:spcAft>
                <a:spcPts val="550"/>
              </a:spcAft>
              <a:buNone/>
            </a:pPr>
            <a:r>
              <a:rPr lang="en-US" sz="850" b="1" dirty="0">
                <a:solidFill>
                  <a:srgbClr val="FFFFFF"/>
                </a:solidFill>
                <a:latin typeface="Merriweather Bold" pitchFamily="34" charset="0"/>
                <a:ea typeface="Merriweather Bold" pitchFamily="34" charset="-122"/>
                <a:cs typeface="Merriweather Bold" pitchFamily="34" charset="-120"/>
              </a:rPr>
              <a:t>Key Insight</a:t>
            </a:r>
            <a:endParaRPr lang="en-US" sz="850" dirty="0"/>
          </a:p>
          <a:p>
            <a:pPr marL="0" indent="0" algn="l">
              <a:lnSpc>
                <a:spcPct val="115000"/>
              </a:lnSpc>
              <a:buNone/>
            </a:pPr>
            <a:r>
              <a:rPr lang="en-US" sz="850" dirty="0">
                <a:solidFill>
                  <a:srgbClr val="FFFFFF"/>
                </a:solidFill>
                <a:latin typeface="Merriweather" pitchFamily="34" charset="0"/>
                <a:ea typeface="Merriweather" pitchFamily="34" charset="-122"/>
                <a:cs typeface="Merriweather" pitchFamily="34" charset="-120"/>
              </a:rPr>
              <a:t>Credit Card dominates — 67.2% dependency on single payment method</a:t>
            </a:r>
            <a:endParaRPr lang="en-US" sz="850" dirty="0"/>
          </a:p>
        </p:txBody>
      </p:sp>
      <p:sp>
        <p:nvSpPr>
          <p:cNvPr id="42" name="TextBox 41">
            <a:extLst>
              <a:ext uri="{FF2B5EF4-FFF2-40B4-BE49-F238E27FC236}">
                <a16:creationId xmlns:a16="http://schemas.microsoft.com/office/drawing/2014/main" id="{EBC469E6-980A-15A5-EAA2-9062E196C4E1}"/>
              </a:ext>
            </a:extLst>
          </p:cNvPr>
          <p:cNvSpPr txBox="1"/>
          <p:nvPr/>
        </p:nvSpPr>
        <p:spPr>
          <a:xfrm>
            <a:off x="1182477" y="178960"/>
            <a:ext cx="6778972" cy="369332"/>
          </a:xfrm>
          <a:prstGeom prst="rect">
            <a:avLst/>
          </a:prstGeom>
          <a:noFill/>
        </p:spPr>
        <p:txBody>
          <a:bodyPr wrap="square" rtlCol="0">
            <a:spAutoFit/>
          </a:bodyPr>
          <a:lstStyle/>
          <a:p>
            <a:pPr lvl="0" algn="ctr">
              <a:defRPr/>
            </a:pPr>
            <a:r>
              <a:rPr lang="en-IN" dirty="0">
                <a:solidFill>
                  <a:srgbClr val="FF0000"/>
                </a:solidFill>
              </a:rPr>
              <a:t>Financial Impact Analysis — Full Picture</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44" name="Text 14">
            <a:extLst>
              <a:ext uri="{FF2B5EF4-FFF2-40B4-BE49-F238E27FC236}">
                <a16:creationId xmlns:a16="http://schemas.microsoft.com/office/drawing/2014/main" id="{230CFF13-10F5-3C5C-34F6-BB827334826F}"/>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46" name="Rectangle 45">
            <a:extLst>
              <a:ext uri="{FF2B5EF4-FFF2-40B4-BE49-F238E27FC236}">
                <a16:creationId xmlns:a16="http://schemas.microsoft.com/office/drawing/2014/main" id="{602090D2-8192-6BFE-959B-D6A0391844B5}"/>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48" name="Picture 47">
            <a:extLst>
              <a:ext uri="{FF2B5EF4-FFF2-40B4-BE49-F238E27FC236}">
                <a16:creationId xmlns:a16="http://schemas.microsoft.com/office/drawing/2014/main" id="{906719C3-007C-5486-3608-5612B72F7498}"/>
              </a:ext>
            </a:extLst>
          </p:cNvPr>
          <p:cNvPicPr>
            <a:picLocks noChangeAspect="1"/>
          </p:cNvPicPr>
          <p:nvPr/>
        </p:nvPicPr>
        <p:blipFill>
          <a:blip r:embed="rId7"/>
          <a:stretch>
            <a:fillRect/>
          </a:stretch>
        </p:blipFill>
        <p:spPr>
          <a:xfrm>
            <a:off x="2575387" y="524111"/>
            <a:ext cx="6378177" cy="29120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39874" y="1165696"/>
            <a:ext cx="2597646" cy="3535189"/>
          </a:xfrm>
          <a:prstGeom prst="roundRect">
            <a:avLst>
              <a:gd name="adj" fmla="val 2338"/>
            </a:avLst>
          </a:prstGeom>
          <a:solidFill>
            <a:srgbClr val="FF4444"/>
          </a:solidFill>
          <a:ln w="4763">
            <a:solidFill>
              <a:srgbClr val="FF5D5D"/>
            </a:solidFill>
            <a:prstDash val="solid"/>
          </a:ln>
        </p:spPr>
      </p:sp>
      <p:sp>
        <p:nvSpPr>
          <p:cNvPr id="4" name="Text 2"/>
          <p:cNvSpPr/>
          <p:nvPr/>
        </p:nvSpPr>
        <p:spPr>
          <a:xfrm>
            <a:off x="689223" y="1315045"/>
            <a:ext cx="2298948" cy="451842"/>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FFFFFF"/>
                </a:solidFill>
                <a:latin typeface="Merriweather" pitchFamily="34" charset="0"/>
                <a:ea typeface="Merriweather" pitchFamily="34" charset="-122"/>
                <a:cs typeface="Merriweather" pitchFamily="34" charset="-120"/>
              </a:rPr>
              <a:t>FINDING 1: DELIVERY FAILURE</a:t>
            </a:r>
            <a:endParaRPr lang="en-US" sz="1400" dirty="0"/>
          </a:p>
        </p:txBody>
      </p:sp>
      <p:sp>
        <p:nvSpPr>
          <p:cNvPr id="5" name="Text 3"/>
          <p:cNvSpPr/>
          <p:nvPr/>
        </p:nvSpPr>
        <p:spPr>
          <a:xfrm>
            <a:off x="689223" y="1848222"/>
            <a:ext cx="2298948" cy="2655912"/>
          </a:xfrm>
          <a:prstGeom prst="rect">
            <a:avLst/>
          </a:prstGeom>
          <a:noFill/>
          <a:ln/>
        </p:spPr>
        <p:txBody>
          <a:bodyPr wrap="square" lIns="0" tIns="0" rIns="0" bIns="0" rtlCol="0" anchor="t">
            <a:normAutofit/>
          </a:bodyPr>
          <a:lstStyle/>
          <a:p>
            <a:pPr marL="223520" indent="-223520" algn="l">
              <a:lnSpc>
                <a:spcPct val="129000"/>
              </a:lnSpc>
              <a:buSzPct val="100000"/>
              <a:buChar char="•"/>
            </a:pPr>
            <a:r>
              <a:rPr lang="en-US" sz="1100" dirty="0">
                <a:solidFill>
                  <a:srgbClr val="FFFFFF"/>
                </a:solidFill>
                <a:latin typeface="Merriweather" pitchFamily="34" charset="0"/>
                <a:ea typeface="Merriweather" pitchFamily="34" charset="-122"/>
                <a:cs typeface="Merriweather" pitchFamily="34" charset="-120"/>
              </a:rPr>
              <a:t>Novo Brasil, ES: 126 days delay</a:t>
            </a:r>
            <a:endParaRPr lang="en-US" sz="1100" dirty="0"/>
          </a:p>
          <a:p>
            <a:pPr marL="223520" indent="-223520" algn="l">
              <a:lnSpc>
                <a:spcPct val="129000"/>
              </a:lnSpc>
              <a:buSzPct val="100000"/>
              <a:buChar char="•"/>
            </a:pPr>
            <a:r>
              <a:rPr lang="en-US" sz="1100" dirty="0">
                <a:solidFill>
                  <a:srgbClr val="FFFFFF"/>
                </a:solidFill>
                <a:latin typeface="Merriweather" pitchFamily="34" charset="0"/>
                <a:ea typeface="Merriweather" pitchFamily="34" charset="-122"/>
                <a:cs typeface="Merriweather" pitchFamily="34" charset="-120"/>
              </a:rPr>
              <a:t>Capinzal Do Norte, MA: 78 days delay</a:t>
            </a:r>
            <a:endParaRPr lang="en-US" sz="1100" dirty="0"/>
          </a:p>
          <a:p>
            <a:pPr marL="223520" indent="-223520" algn="l">
              <a:lnSpc>
                <a:spcPct val="129000"/>
              </a:lnSpc>
              <a:buSzPct val="100000"/>
              <a:buChar char="•"/>
            </a:pPr>
            <a:r>
              <a:rPr lang="en-US" sz="1100" dirty="0">
                <a:solidFill>
                  <a:srgbClr val="FFFFFF"/>
                </a:solidFill>
                <a:latin typeface="Merriweather" pitchFamily="34" charset="0"/>
                <a:ea typeface="Merriweather" pitchFamily="34" charset="-122"/>
                <a:cs typeface="Merriweather" pitchFamily="34" charset="-120"/>
              </a:rPr>
              <a:t>Network late rate: 7.66% of all orders</a:t>
            </a:r>
            <a:endParaRPr lang="en-US" sz="1100" dirty="0"/>
          </a:p>
          <a:p>
            <a:pPr marL="223520" indent="-223520" algn="l">
              <a:lnSpc>
                <a:spcPct val="129000"/>
              </a:lnSpc>
              <a:buSzPct val="100000"/>
              <a:buChar char="•"/>
            </a:pPr>
            <a:r>
              <a:rPr lang="en-US" sz="1100" dirty="0">
                <a:solidFill>
                  <a:srgbClr val="FFFFFF"/>
                </a:solidFill>
                <a:latin typeface="Merriweather" pitchFamily="34" charset="0"/>
                <a:ea typeface="Merriweather" pitchFamily="34" charset="-122"/>
                <a:cs typeface="Merriweather" pitchFamily="34" charset="-120"/>
              </a:rPr>
              <a:t>7,583 orders delivered late</a:t>
            </a:r>
            <a:endParaRPr lang="en-US" sz="1100" dirty="0"/>
          </a:p>
          <a:p>
            <a:pPr marL="223520" indent="-223520" algn="l">
              <a:lnSpc>
                <a:spcPct val="129000"/>
              </a:lnSpc>
              <a:buSzPct val="100000"/>
              <a:buChar char="•"/>
            </a:pPr>
            <a:r>
              <a:rPr lang="en-US" sz="1100" dirty="0">
                <a:solidFill>
                  <a:srgbClr val="FFFFFF"/>
                </a:solidFill>
                <a:latin typeface="Merriweather" pitchFamily="34" charset="0"/>
                <a:ea typeface="Merriweather" pitchFamily="34" charset="-122"/>
                <a:cs typeface="Merriweather" pitchFamily="34" charset="-120"/>
              </a:rPr>
              <a:t>Overall avg delay: -11.13 days (some regions pulling average down but specific zones critical)</a:t>
            </a:r>
            <a:endParaRPr lang="en-US" sz="1100" dirty="0"/>
          </a:p>
        </p:txBody>
      </p:sp>
      <p:sp>
        <p:nvSpPr>
          <p:cNvPr id="6" name="Shape 4"/>
          <p:cNvSpPr/>
          <p:nvPr/>
        </p:nvSpPr>
        <p:spPr>
          <a:xfrm>
            <a:off x="3273103" y="1165696"/>
            <a:ext cx="2597721" cy="3535189"/>
          </a:xfrm>
          <a:prstGeom prst="roundRect">
            <a:avLst>
              <a:gd name="adj" fmla="val 2338"/>
            </a:avLst>
          </a:prstGeom>
          <a:solidFill>
            <a:srgbClr val="FF9013"/>
          </a:solidFill>
          <a:ln w="4763">
            <a:solidFill>
              <a:srgbClr val="E57600"/>
            </a:solidFill>
            <a:prstDash val="solid"/>
          </a:ln>
        </p:spPr>
      </p:sp>
      <p:sp>
        <p:nvSpPr>
          <p:cNvPr id="7" name="Text 5"/>
          <p:cNvSpPr/>
          <p:nvPr/>
        </p:nvSpPr>
        <p:spPr>
          <a:xfrm>
            <a:off x="3422452" y="1315045"/>
            <a:ext cx="2299022" cy="451842"/>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000000"/>
                </a:solidFill>
                <a:latin typeface="Merriweather" pitchFamily="34" charset="0"/>
                <a:ea typeface="Merriweather" pitchFamily="34" charset="-122"/>
                <a:cs typeface="Merriweather" pitchFamily="34" charset="-120"/>
              </a:rPr>
              <a:t>FINDING 2: FREIGHT LEAKAGE</a:t>
            </a:r>
            <a:endParaRPr lang="en-US" sz="1400" dirty="0"/>
          </a:p>
        </p:txBody>
      </p:sp>
      <p:sp>
        <p:nvSpPr>
          <p:cNvPr id="8" name="Text 6"/>
          <p:cNvSpPr/>
          <p:nvPr/>
        </p:nvSpPr>
        <p:spPr>
          <a:xfrm>
            <a:off x="3422452" y="1848222"/>
            <a:ext cx="2299022" cy="2655912"/>
          </a:xfrm>
          <a:prstGeom prst="rect">
            <a:avLst/>
          </a:prstGeom>
          <a:noFill/>
          <a:ln/>
        </p:spPr>
        <p:txBody>
          <a:bodyPr wrap="square" lIns="0" tIns="0" rIns="0" bIns="0" rtlCol="0" anchor="t">
            <a:normAutofit/>
          </a:bodyPr>
          <a:lstStyle/>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₹2.37M spent on freight annually</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14.24% of total revenue going to logistics costs</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Phones category: 50.54% freight ratio — highest risk</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Home Utilities: 40.32% ratio — second highest</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Network needs freight optimization across top 5 categories</a:t>
            </a:r>
            <a:endParaRPr lang="en-US" sz="1100" dirty="0"/>
          </a:p>
        </p:txBody>
      </p:sp>
      <p:sp>
        <p:nvSpPr>
          <p:cNvPr id="9" name="Shape 7"/>
          <p:cNvSpPr/>
          <p:nvPr/>
        </p:nvSpPr>
        <p:spPr>
          <a:xfrm>
            <a:off x="6006405" y="1165696"/>
            <a:ext cx="2597721" cy="3535189"/>
          </a:xfrm>
          <a:prstGeom prst="roundRect">
            <a:avLst>
              <a:gd name="adj" fmla="val 2338"/>
            </a:avLst>
          </a:prstGeom>
          <a:solidFill>
            <a:srgbClr val="F9D933"/>
          </a:solidFill>
          <a:ln w="4763">
            <a:solidFill>
              <a:srgbClr val="DFBF19"/>
            </a:solidFill>
            <a:prstDash val="solid"/>
          </a:ln>
        </p:spPr>
      </p:sp>
      <p:sp>
        <p:nvSpPr>
          <p:cNvPr id="10" name="Text 8"/>
          <p:cNvSpPr/>
          <p:nvPr/>
        </p:nvSpPr>
        <p:spPr>
          <a:xfrm>
            <a:off x="6155754" y="1315045"/>
            <a:ext cx="2299022" cy="451842"/>
          </a:xfrm>
          <a:prstGeom prst="rect">
            <a:avLst/>
          </a:prstGeom>
          <a:noFill/>
          <a:ln/>
        </p:spPr>
        <p:txBody>
          <a:bodyPr wrap="square" lIns="0" tIns="0" rIns="0" bIns="0" rtlCol="0" anchor="t">
            <a:normAutofit/>
          </a:bodyPr>
          <a:lstStyle/>
          <a:p>
            <a:pPr marL="0" indent="0" algn="l">
              <a:lnSpc>
                <a:spcPct val="104000"/>
              </a:lnSpc>
              <a:buNone/>
            </a:pPr>
            <a:r>
              <a:rPr lang="en-US" sz="1400" dirty="0">
                <a:solidFill>
                  <a:srgbClr val="000000"/>
                </a:solidFill>
                <a:latin typeface="Merriweather" pitchFamily="34" charset="0"/>
                <a:ea typeface="Merriweather" pitchFamily="34" charset="-122"/>
                <a:cs typeface="Merriweather" pitchFamily="34" charset="-120"/>
              </a:rPr>
              <a:t>FINDING 3: REVENUE PATTERN</a:t>
            </a:r>
            <a:endParaRPr lang="en-US" sz="1400" dirty="0"/>
          </a:p>
        </p:txBody>
      </p:sp>
      <p:sp>
        <p:nvSpPr>
          <p:cNvPr id="11" name="Text 9"/>
          <p:cNvSpPr/>
          <p:nvPr/>
        </p:nvSpPr>
        <p:spPr>
          <a:xfrm>
            <a:off x="6155754" y="1848222"/>
            <a:ext cx="2299022" cy="2703314"/>
          </a:xfrm>
          <a:prstGeom prst="rect">
            <a:avLst/>
          </a:prstGeom>
          <a:noFill/>
          <a:ln/>
        </p:spPr>
        <p:txBody>
          <a:bodyPr wrap="square" lIns="0" tIns="0" rIns="0" bIns="0" rtlCol="0" anchor="t">
            <a:normAutofit/>
          </a:bodyPr>
          <a:lstStyle/>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₹16.64M total revenue 2016-2018</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São Paulo = 13.8%</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Rio De Janeiro = 7.2%</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Top 2 = 21% total</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Revenue grew 168x from 2016 to 2018 showing strong growth</a:t>
            </a:r>
            <a:endParaRPr lang="en-US" sz="1100" dirty="0"/>
          </a:p>
          <a:p>
            <a:pPr marL="223520" indent="-223520" algn="l">
              <a:lnSpc>
                <a:spcPct val="129000"/>
              </a:lnSpc>
              <a:buSzPct val="100000"/>
              <a:buChar char="•"/>
            </a:pPr>
            <a:r>
              <a:rPr lang="en-US" sz="1100" dirty="0">
                <a:solidFill>
                  <a:srgbClr val="000000"/>
                </a:solidFill>
                <a:latin typeface="Merriweather" pitchFamily="34" charset="0"/>
                <a:ea typeface="Merriweather" pitchFamily="34" charset="-122"/>
                <a:cs typeface="Merriweather" pitchFamily="34" charset="-120"/>
              </a:rPr>
              <a:t>Credit Card: 67.2% of payments — Single method risk identified</a:t>
            </a:r>
            <a:endParaRPr lang="en-US" sz="1100" dirty="0"/>
          </a:p>
        </p:txBody>
      </p:sp>
      <p:sp>
        <p:nvSpPr>
          <p:cNvPr id="13" name="Rectangle 12">
            <a:extLst>
              <a:ext uri="{FF2B5EF4-FFF2-40B4-BE49-F238E27FC236}">
                <a16:creationId xmlns:a16="http://schemas.microsoft.com/office/drawing/2014/main" id="{38FDBC84-E7FA-CB82-F94B-F37ECBB51697}"/>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Text 14">
            <a:extLst>
              <a:ext uri="{FF2B5EF4-FFF2-40B4-BE49-F238E27FC236}">
                <a16:creationId xmlns:a16="http://schemas.microsoft.com/office/drawing/2014/main" id="{814EB1C5-1741-3DCA-A6B6-8735B8FACF7A}"/>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
        <p:nvSpPr>
          <p:cNvPr id="19" name="TextBox 18">
            <a:extLst>
              <a:ext uri="{FF2B5EF4-FFF2-40B4-BE49-F238E27FC236}">
                <a16:creationId xmlns:a16="http://schemas.microsoft.com/office/drawing/2014/main" id="{63C77E4F-A114-5E06-58F6-9A21F191F695}"/>
              </a:ext>
            </a:extLst>
          </p:cNvPr>
          <p:cNvSpPr txBox="1"/>
          <p:nvPr/>
        </p:nvSpPr>
        <p:spPr>
          <a:xfrm>
            <a:off x="1182477" y="363626"/>
            <a:ext cx="6778972" cy="369332"/>
          </a:xfrm>
          <a:prstGeom prst="rect">
            <a:avLst/>
          </a:prstGeom>
          <a:noFill/>
        </p:spPr>
        <p:txBody>
          <a:bodyPr wrap="square" rtlCol="0">
            <a:spAutoFit/>
          </a:bodyPr>
          <a:lstStyle/>
          <a:p>
            <a:pPr lvl="0" algn="ctr">
              <a:defRPr/>
            </a:pPr>
            <a:r>
              <a:rPr lang="en-IN" dirty="0">
                <a:solidFill>
                  <a:srgbClr val="FF0000"/>
                </a:solidFill>
              </a:rPr>
              <a:t>Summary of All Findings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454819" y="967383"/>
            <a:ext cx="2638202" cy="3034829"/>
          </a:xfrm>
          <a:prstGeom prst="roundRect">
            <a:avLst>
              <a:gd name="adj" fmla="val 3223"/>
            </a:avLst>
          </a:prstGeom>
          <a:solidFill>
            <a:srgbClr val="1E73BE">
              <a:alpha val="95000"/>
            </a:srgbClr>
          </a:solidFill>
          <a:ln/>
        </p:spPr>
      </p:sp>
      <p:sp>
        <p:nvSpPr>
          <p:cNvPr id="4" name="Text 2"/>
          <p:cNvSpPr/>
          <p:nvPr/>
        </p:nvSpPr>
        <p:spPr>
          <a:xfrm>
            <a:off x="572914" y="1057796"/>
            <a:ext cx="2289870" cy="184547"/>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Merriweather" pitchFamily="34" charset="0"/>
                <a:ea typeface="Merriweather" pitchFamily="34" charset="-122"/>
                <a:cs typeface="Merriweather" pitchFamily="34" charset="-120"/>
              </a:rPr>
              <a:t>MONTH 1–3: QUICK WINS</a:t>
            </a:r>
            <a:endParaRPr lang="en-US" sz="1150" dirty="0"/>
          </a:p>
        </p:txBody>
      </p:sp>
      <p:sp>
        <p:nvSpPr>
          <p:cNvPr id="5" name="Text 3"/>
          <p:cNvSpPr/>
          <p:nvPr/>
        </p:nvSpPr>
        <p:spPr>
          <a:xfrm>
            <a:off x="572914" y="1332756"/>
            <a:ext cx="2402012" cy="662955"/>
          </a:xfrm>
          <a:prstGeom prst="rect">
            <a:avLst/>
          </a:prstGeom>
          <a:noFill/>
          <a:ln/>
        </p:spPr>
        <p:txBody>
          <a:bodyPr wrap="square" lIns="0" tIns="0" rIns="0" bIns="0" rtlCol="0" anchor="t"/>
          <a:lstStyle/>
          <a:p>
            <a:pPr marL="0" indent="0" algn="l">
              <a:lnSpc>
                <a:spcPct val="118000"/>
              </a:lnSpc>
              <a:spcAft>
                <a:spcPts val="600"/>
              </a:spcAft>
              <a:buNone/>
            </a:pPr>
            <a:r>
              <a:rPr lang="en-US" sz="900" b="1" dirty="0">
                <a:solidFill>
                  <a:srgbClr val="FFFFFF"/>
                </a:solidFill>
                <a:latin typeface="Merriweather Bold" pitchFamily="34" charset="0"/>
                <a:ea typeface="Merriweather Bold" pitchFamily="34" charset="-122"/>
                <a:cs typeface="Merriweather Bold" pitchFamily="34" charset="-120"/>
              </a:rPr>
              <a:t>Fix Delivery Regions</a:t>
            </a:r>
            <a:endParaRPr lang="en-US" sz="900" dirty="0"/>
          </a:p>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Problem:</a:t>
            </a:r>
            <a:r>
              <a:rPr lang="en-US" sz="900" dirty="0">
                <a:solidFill>
                  <a:srgbClr val="FFFFFF"/>
                </a:solidFill>
                <a:latin typeface="Merriweather" pitchFamily="34" charset="0"/>
                <a:ea typeface="Merriweather" pitchFamily="34" charset="-122"/>
                <a:cs typeface="Merriweather" pitchFamily="34" charset="-120"/>
              </a:rPr>
              <a:t> 126-day delays in ES, MA</a:t>
            </a:r>
            <a:endParaRPr lang="en-US" sz="900" dirty="0"/>
          </a:p>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Actions:</a:t>
            </a:r>
            <a:endParaRPr lang="en-US" sz="900" dirty="0"/>
          </a:p>
        </p:txBody>
      </p:sp>
      <p:sp>
        <p:nvSpPr>
          <p:cNvPr id="6" name="Text 4"/>
          <p:cNvSpPr/>
          <p:nvPr/>
        </p:nvSpPr>
        <p:spPr>
          <a:xfrm>
            <a:off x="572914" y="2077045"/>
            <a:ext cx="2402012" cy="928688"/>
          </a:xfrm>
          <a:prstGeom prst="rect">
            <a:avLst/>
          </a:prstGeom>
          <a:noFill/>
          <a:ln/>
        </p:spPr>
        <p:txBody>
          <a:bodyPr wrap="square" lIns="0" tIns="0" rIns="0" bIns="0" rtlCol="0" anchor="t">
            <a:normAutofit/>
          </a:bodyPr>
          <a:lstStyle/>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Identify worst 10 delay sellers</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Review carrier contracts in ES+MA</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Set 15-day maximum SLA standard</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Weekly delay monitoring using Page 2 of Power BI dashboard</a:t>
            </a:r>
            <a:endParaRPr lang="en-US" sz="900" dirty="0"/>
          </a:p>
        </p:txBody>
      </p:sp>
      <p:sp>
        <p:nvSpPr>
          <p:cNvPr id="7" name="Text 5"/>
          <p:cNvSpPr/>
          <p:nvPr/>
        </p:nvSpPr>
        <p:spPr>
          <a:xfrm>
            <a:off x="572914" y="3087067"/>
            <a:ext cx="2859212" cy="166762"/>
          </a:xfrm>
          <a:prstGeom prst="rect">
            <a:avLst/>
          </a:prstGeom>
          <a:noFill/>
          <a:ln/>
        </p:spPr>
        <p:txBody>
          <a:bodyPr wrap="none" lIns="0" tIns="0" rIns="0" bIns="0" rtlCol="0" anchor="t"/>
          <a:lstStyle/>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Target:</a:t>
            </a:r>
            <a:r>
              <a:rPr lang="en-US" sz="900" dirty="0">
                <a:solidFill>
                  <a:srgbClr val="FFFFFF"/>
                </a:solidFill>
                <a:latin typeface="Merriweather" pitchFamily="34" charset="0"/>
                <a:ea typeface="Merriweather" pitchFamily="34" charset="-122"/>
                <a:cs typeface="Merriweather" pitchFamily="34" charset="-120"/>
              </a:rPr>
              <a:t> Late delivery % below 5%</a:t>
            </a:r>
            <a:endParaRPr lang="en-US" sz="900" dirty="0"/>
          </a:p>
        </p:txBody>
      </p:sp>
      <p:sp>
        <p:nvSpPr>
          <p:cNvPr id="8" name="Shape 6"/>
          <p:cNvSpPr/>
          <p:nvPr/>
        </p:nvSpPr>
        <p:spPr>
          <a:xfrm>
            <a:off x="3181574" y="967383"/>
            <a:ext cx="2638202" cy="3034829"/>
          </a:xfrm>
          <a:prstGeom prst="roundRect">
            <a:avLst>
              <a:gd name="adj" fmla="val 3223"/>
            </a:avLst>
          </a:prstGeom>
          <a:solidFill>
            <a:srgbClr val="7A4CE0">
              <a:alpha val="95000"/>
            </a:srgbClr>
          </a:solidFill>
          <a:ln/>
        </p:spPr>
      </p:sp>
      <p:sp>
        <p:nvSpPr>
          <p:cNvPr id="9" name="Text 7"/>
          <p:cNvSpPr/>
          <p:nvPr/>
        </p:nvSpPr>
        <p:spPr>
          <a:xfrm>
            <a:off x="3333899" y="1057796"/>
            <a:ext cx="2554337" cy="184547"/>
          </a:xfrm>
          <a:prstGeom prst="rect">
            <a:avLst/>
          </a:prstGeom>
          <a:noFill/>
          <a:ln/>
        </p:spPr>
        <p:txBody>
          <a:bodyPr wrap="none" lIns="0" tIns="0" rIns="0" bIns="0" rtlCol="0" anchor="t"/>
          <a:lstStyle/>
          <a:p>
            <a:pPr marL="0" indent="0" algn="l">
              <a:lnSpc>
                <a:spcPct val="104000"/>
              </a:lnSpc>
              <a:buNone/>
            </a:pPr>
            <a:r>
              <a:rPr lang="en-US" sz="1150" dirty="0">
                <a:solidFill>
                  <a:srgbClr val="F5F0F0"/>
                </a:solidFill>
                <a:latin typeface="Merriweather" pitchFamily="34" charset="0"/>
                <a:ea typeface="Merriweather" pitchFamily="34" charset="-122"/>
                <a:cs typeface="Merriweather" pitchFamily="34" charset="-120"/>
              </a:rPr>
              <a:t>MONTH 4–8: OPTIMIZATION</a:t>
            </a:r>
            <a:endParaRPr lang="en-US" sz="1150" dirty="0"/>
          </a:p>
        </p:txBody>
      </p:sp>
      <p:sp>
        <p:nvSpPr>
          <p:cNvPr id="10" name="Text 8"/>
          <p:cNvSpPr/>
          <p:nvPr/>
        </p:nvSpPr>
        <p:spPr>
          <a:xfrm>
            <a:off x="3333899" y="1332756"/>
            <a:ext cx="2402012" cy="829717"/>
          </a:xfrm>
          <a:prstGeom prst="rect">
            <a:avLst/>
          </a:prstGeom>
          <a:noFill/>
          <a:ln/>
        </p:spPr>
        <p:txBody>
          <a:bodyPr wrap="square" lIns="0" tIns="0" rIns="0" bIns="0" rtlCol="0" anchor="t"/>
          <a:lstStyle/>
          <a:p>
            <a:pPr marL="0" indent="0" algn="l">
              <a:lnSpc>
                <a:spcPct val="118000"/>
              </a:lnSpc>
              <a:spcAft>
                <a:spcPts val="600"/>
              </a:spcAft>
              <a:buNone/>
            </a:pPr>
            <a:r>
              <a:rPr lang="en-US" sz="900" b="1" dirty="0">
                <a:solidFill>
                  <a:srgbClr val="FFFFFF"/>
                </a:solidFill>
                <a:latin typeface="Merriweather Bold" pitchFamily="34" charset="0"/>
                <a:ea typeface="Merriweather Bold" pitchFamily="34" charset="-122"/>
                <a:cs typeface="Merriweather Bold" pitchFamily="34" charset="-120"/>
              </a:rPr>
              <a:t>Fix Freight Costs</a:t>
            </a:r>
            <a:endParaRPr lang="en-US" sz="900" dirty="0"/>
          </a:p>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Problem:</a:t>
            </a:r>
            <a:r>
              <a:rPr lang="en-US" sz="900" dirty="0">
                <a:solidFill>
                  <a:srgbClr val="FFFFFF"/>
                </a:solidFill>
                <a:latin typeface="Merriweather" pitchFamily="34" charset="0"/>
                <a:ea typeface="Merriweather" pitchFamily="34" charset="-122"/>
                <a:cs typeface="Merriweather" pitchFamily="34" charset="-120"/>
              </a:rPr>
              <a:t> 14.24% freight ratio too high, Phones at 50.54%</a:t>
            </a:r>
            <a:endParaRPr lang="en-US" sz="900" dirty="0"/>
          </a:p>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Actions:</a:t>
            </a:r>
            <a:endParaRPr lang="en-US" sz="900" dirty="0"/>
          </a:p>
        </p:txBody>
      </p:sp>
      <p:sp>
        <p:nvSpPr>
          <p:cNvPr id="11" name="Text 9"/>
          <p:cNvSpPr/>
          <p:nvPr/>
        </p:nvSpPr>
        <p:spPr>
          <a:xfrm>
            <a:off x="3333899" y="2243807"/>
            <a:ext cx="2402012" cy="1095449"/>
          </a:xfrm>
          <a:prstGeom prst="rect">
            <a:avLst/>
          </a:prstGeom>
          <a:noFill/>
          <a:ln/>
        </p:spPr>
        <p:txBody>
          <a:bodyPr wrap="square" lIns="0" tIns="0" rIns="0" bIns="0" rtlCol="0" anchor="t">
            <a:normAutofit/>
          </a:bodyPr>
          <a:lstStyle/>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Renegotiate freight rates for Phones and Electronics</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Explore bulk shipping options</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Review packaging to reduce dimensional weight charges</a:t>
            </a:r>
            <a:endParaRPr lang="en-US" sz="900" dirty="0"/>
          </a:p>
          <a:p>
            <a:pPr marL="182880" indent="-182880" algn="l">
              <a:lnSpc>
                <a:spcPct val="118000"/>
              </a:lnSpc>
              <a:buSzPct val="100000"/>
              <a:buChar char="•"/>
            </a:pPr>
            <a:r>
              <a:rPr lang="en-US" sz="900" dirty="0">
                <a:solidFill>
                  <a:srgbClr val="FFFFFF"/>
                </a:solidFill>
                <a:latin typeface="Merriweather" pitchFamily="34" charset="0"/>
                <a:ea typeface="Merriweather" pitchFamily="34" charset="-122"/>
                <a:cs typeface="Merriweather" pitchFamily="34" charset="-120"/>
              </a:rPr>
              <a:t>Monthly tracking on Page 3</a:t>
            </a:r>
            <a:endParaRPr lang="en-US" sz="900" dirty="0"/>
          </a:p>
        </p:txBody>
      </p:sp>
      <p:sp>
        <p:nvSpPr>
          <p:cNvPr id="12" name="Text 10"/>
          <p:cNvSpPr/>
          <p:nvPr/>
        </p:nvSpPr>
        <p:spPr>
          <a:xfrm>
            <a:off x="3333899" y="3420591"/>
            <a:ext cx="2402012" cy="333524"/>
          </a:xfrm>
          <a:prstGeom prst="rect">
            <a:avLst/>
          </a:prstGeom>
          <a:noFill/>
          <a:ln/>
        </p:spPr>
        <p:txBody>
          <a:bodyPr wrap="square" lIns="0" tIns="0" rIns="0" bIns="0" rtlCol="0" anchor="t">
            <a:normAutofit/>
          </a:bodyPr>
          <a:lstStyle/>
          <a:p>
            <a:pPr marL="0" indent="0" algn="l">
              <a:lnSpc>
                <a:spcPct val="118000"/>
              </a:lnSpc>
              <a:buNone/>
            </a:pPr>
            <a:r>
              <a:rPr lang="en-US" sz="900" b="1" dirty="0">
                <a:solidFill>
                  <a:srgbClr val="FFFFFF"/>
                </a:solidFill>
                <a:latin typeface="Merriweather Bold" pitchFamily="34" charset="0"/>
                <a:ea typeface="Merriweather Bold" pitchFamily="34" charset="-122"/>
                <a:cs typeface="Merriweather Bold" pitchFamily="34" charset="-120"/>
              </a:rPr>
              <a:t>Target:</a:t>
            </a:r>
            <a:r>
              <a:rPr lang="en-US" sz="900" dirty="0">
                <a:solidFill>
                  <a:srgbClr val="FFFFFF"/>
                </a:solidFill>
                <a:latin typeface="Merriweather" pitchFamily="34" charset="0"/>
                <a:ea typeface="Merriweather" pitchFamily="34" charset="-122"/>
                <a:cs typeface="Merriweather" pitchFamily="34" charset="-120"/>
              </a:rPr>
              <a:t> Freight ratio below 10%, Saving ₹700K annually</a:t>
            </a:r>
            <a:endParaRPr lang="en-US" sz="900" dirty="0"/>
          </a:p>
        </p:txBody>
      </p:sp>
      <p:sp>
        <p:nvSpPr>
          <p:cNvPr id="13" name="Shape 11"/>
          <p:cNvSpPr/>
          <p:nvPr/>
        </p:nvSpPr>
        <p:spPr>
          <a:xfrm>
            <a:off x="5976789" y="967383"/>
            <a:ext cx="2721769" cy="3034829"/>
          </a:xfrm>
          <a:prstGeom prst="roundRect">
            <a:avLst>
              <a:gd name="adj" fmla="val 3124"/>
            </a:avLst>
          </a:prstGeom>
          <a:solidFill>
            <a:srgbClr val="2E9E63">
              <a:alpha val="95000"/>
            </a:srgbClr>
          </a:solidFill>
          <a:ln/>
        </p:spPr>
      </p:sp>
      <p:sp>
        <p:nvSpPr>
          <p:cNvPr id="14" name="Text 12"/>
          <p:cNvSpPr/>
          <p:nvPr/>
        </p:nvSpPr>
        <p:spPr>
          <a:xfrm>
            <a:off x="6094884" y="1057796"/>
            <a:ext cx="1955081" cy="1845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erriweather" pitchFamily="34" charset="0"/>
                <a:ea typeface="Merriweather" pitchFamily="34" charset="-122"/>
                <a:cs typeface="Merriweather" pitchFamily="34" charset="-120"/>
              </a:rPr>
              <a:t>MONTH 9–12: SCALE</a:t>
            </a:r>
            <a:endParaRPr lang="en-US" sz="1150" dirty="0"/>
          </a:p>
        </p:txBody>
      </p:sp>
      <p:sp>
        <p:nvSpPr>
          <p:cNvPr id="15" name="Text 13"/>
          <p:cNvSpPr/>
          <p:nvPr/>
        </p:nvSpPr>
        <p:spPr>
          <a:xfrm>
            <a:off x="6094884" y="1332756"/>
            <a:ext cx="2485579" cy="829717"/>
          </a:xfrm>
          <a:prstGeom prst="rect">
            <a:avLst/>
          </a:prstGeom>
          <a:noFill/>
          <a:ln/>
        </p:spPr>
        <p:txBody>
          <a:bodyPr wrap="square" lIns="0" tIns="0" rIns="0" bIns="0" rtlCol="0" anchor="t"/>
          <a:lstStyle/>
          <a:p>
            <a:pPr marL="0" indent="0" algn="l">
              <a:lnSpc>
                <a:spcPct val="118000"/>
              </a:lnSpc>
              <a:spcAft>
                <a:spcPts val="600"/>
              </a:spcAft>
              <a:buNone/>
            </a:pPr>
            <a:r>
              <a:rPr lang="en-US" sz="900" b="1" dirty="0">
                <a:solidFill>
                  <a:srgbClr val="000000"/>
                </a:solidFill>
                <a:latin typeface="Merriweather Bold" pitchFamily="34" charset="0"/>
                <a:ea typeface="Merriweather Bold" pitchFamily="34" charset="-122"/>
                <a:cs typeface="Merriweather Bold" pitchFamily="34" charset="-120"/>
              </a:rPr>
              <a:t>Grow Revenue</a:t>
            </a:r>
            <a:endParaRPr lang="en-US" sz="900" dirty="0"/>
          </a:p>
          <a:p>
            <a:pPr marL="0" indent="0" algn="l">
              <a:lnSpc>
                <a:spcPct val="118000"/>
              </a:lnSpc>
              <a:buNone/>
            </a:pPr>
            <a:r>
              <a:rPr lang="en-US" sz="900" b="1" dirty="0">
                <a:solidFill>
                  <a:srgbClr val="000000"/>
                </a:solidFill>
                <a:latin typeface="Merriweather Bold" pitchFamily="34" charset="0"/>
                <a:ea typeface="Merriweather Bold" pitchFamily="34" charset="-122"/>
                <a:cs typeface="Merriweather Bold" pitchFamily="34" charset="-120"/>
              </a:rPr>
              <a:t>Problem:</a:t>
            </a:r>
            <a:r>
              <a:rPr lang="en-US" sz="900" dirty="0">
                <a:solidFill>
                  <a:srgbClr val="000000"/>
                </a:solidFill>
                <a:latin typeface="Merriweather" pitchFamily="34" charset="0"/>
                <a:ea typeface="Merriweather" pitchFamily="34" charset="-122"/>
                <a:cs typeface="Merriweather" pitchFamily="34" charset="-120"/>
              </a:rPr>
              <a:t> Revenue concentrated in only 2–3 regions</a:t>
            </a:r>
            <a:endParaRPr lang="en-US" sz="900" dirty="0"/>
          </a:p>
          <a:p>
            <a:pPr marL="0" indent="0" algn="l">
              <a:lnSpc>
                <a:spcPct val="118000"/>
              </a:lnSpc>
              <a:buNone/>
            </a:pPr>
            <a:r>
              <a:rPr lang="en-US" sz="900" b="1" dirty="0">
                <a:solidFill>
                  <a:srgbClr val="000000"/>
                </a:solidFill>
                <a:latin typeface="Merriweather Bold" pitchFamily="34" charset="0"/>
                <a:ea typeface="Merriweather Bold" pitchFamily="34" charset="-122"/>
                <a:cs typeface="Merriweather Bold" pitchFamily="34" charset="-120"/>
              </a:rPr>
              <a:t>Actions:</a:t>
            </a:r>
            <a:endParaRPr lang="en-US" sz="900" dirty="0"/>
          </a:p>
        </p:txBody>
      </p:sp>
      <p:sp>
        <p:nvSpPr>
          <p:cNvPr id="16" name="Text 14"/>
          <p:cNvSpPr/>
          <p:nvPr/>
        </p:nvSpPr>
        <p:spPr>
          <a:xfrm>
            <a:off x="6094884" y="2243807"/>
            <a:ext cx="2485579" cy="1262211"/>
          </a:xfrm>
          <a:prstGeom prst="rect">
            <a:avLst/>
          </a:prstGeom>
          <a:noFill/>
          <a:ln/>
        </p:spPr>
        <p:txBody>
          <a:bodyPr wrap="square" lIns="0" tIns="0" rIns="0" bIns="0" rtlCol="0" anchor="t">
            <a:normAutofit/>
          </a:bodyPr>
          <a:lstStyle/>
          <a:p>
            <a:pPr marL="182880" indent="-182880" algn="l">
              <a:lnSpc>
                <a:spcPct val="118000"/>
              </a:lnSpc>
              <a:buSzPct val="100000"/>
              <a:buChar char="•"/>
            </a:pPr>
            <a:r>
              <a:rPr lang="en-US" sz="900" dirty="0">
                <a:solidFill>
                  <a:srgbClr val="000000"/>
                </a:solidFill>
                <a:latin typeface="Merriweather" pitchFamily="34" charset="0"/>
                <a:ea typeface="Merriweather" pitchFamily="34" charset="-122"/>
                <a:cs typeface="Merriweather" pitchFamily="34" charset="-120"/>
              </a:rPr>
              <a:t>Expand seller network in underperforming regions</a:t>
            </a:r>
            <a:endParaRPr lang="en-US" sz="900" dirty="0"/>
          </a:p>
          <a:p>
            <a:pPr marL="182880" indent="-182880" algn="l">
              <a:lnSpc>
                <a:spcPct val="118000"/>
              </a:lnSpc>
              <a:buSzPct val="100000"/>
              <a:buChar char="•"/>
            </a:pPr>
            <a:r>
              <a:rPr lang="en-US" sz="900" dirty="0">
                <a:solidFill>
                  <a:srgbClr val="000000"/>
                </a:solidFill>
                <a:latin typeface="Merriweather" pitchFamily="34" charset="0"/>
                <a:ea typeface="Merriweather" pitchFamily="34" charset="-122"/>
                <a:cs typeface="Merriweather" pitchFamily="34" charset="-120"/>
              </a:rPr>
              <a:t>Launch seller incentive for high-performing regions</a:t>
            </a:r>
            <a:endParaRPr lang="en-US" sz="900" dirty="0"/>
          </a:p>
          <a:p>
            <a:pPr marL="182880" indent="-182880" algn="l">
              <a:lnSpc>
                <a:spcPct val="118000"/>
              </a:lnSpc>
              <a:buSzPct val="100000"/>
              <a:buChar char="•"/>
            </a:pPr>
            <a:r>
              <a:rPr lang="en-US" sz="900" dirty="0">
                <a:solidFill>
                  <a:srgbClr val="000000"/>
                </a:solidFill>
                <a:latin typeface="Merriweather" pitchFamily="34" charset="0"/>
                <a:ea typeface="Merriweather" pitchFamily="34" charset="-122"/>
                <a:cs typeface="Merriweather" pitchFamily="34" charset="-120"/>
              </a:rPr>
              <a:t>Use Page 1 dashboard for monthly executive review</a:t>
            </a:r>
            <a:endParaRPr lang="en-US" sz="900" dirty="0"/>
          </a:p>
          <a:p>
            <a:pPr marL="182880" indent="-182880" algn="l">
              <a:lnSpc>
                <a:spcPct val="118000"/>
              </a:lnSpc>
              <a:buSzPct val="100000"/>
              <a:buChar char="•"/>
            </a:pPr>
            <a:r>
              <a:rPr lang="en-US" sz="900" dirty="0">
                <a:solidFill>
                  <a:srgbClr val="000000"/>
                </a:solidFill>
                <a:latin typeface="Merriweather" pitchFamily="34" charset="0"/>
                <a:ea typeface="Merriweather" pitchFamily="34" charset="-122"/>
                <a:cs typeface="Merriweather" pitchFamily="34" charset="-120"/>
              </a:rPr>
              <a:t>Quarterly performance reports</a:t>
            </a:r>
            <a:endParaRPr lang="en-US" sz="900" dirty="0"/>
          </a:p>
        </p:txBody>
      </p:sp>
      <p:sp>
        <p:nvSpPr>
          <p:cNvPr id="17" name="Text 15"/>
          <p:cNvSpPr/>
          <p:nvPr/>
        </p:nvSpPr>
        <p:spPr>
          <a:xfrm>
            <a:off x="6094884" y="3587353"/>
            <a:ext cx="2485579" cy="333524"/>
          </a:xfrm>
          <a:prstGeom prst="rect">
            <a:avLst/>
          </a:prstGeom>
          <a:noFill/>
          <a:ln/>
        </p:spPr>
        <p:txBody>
          <a:bodyPr wrap="square" lIns="0" tIns="0" rIns="0" bIns="0" rtlCol="0" anchor="t">
            <a:normAutofit/>
          </a:bodyPr>
          <a:lstStyle/>
          <a:p>
            <a:pPr marL="0" indent="0" algn="l">
              <a:lnSpc>
                <a:spcPct val="118000"/>
              </a:lnSpc>
              <a:buNone/>
            </a:pPr>
            <a:r>
              <a:rPr lang="en-US" sz="900" b="1" dirty="0">
                <a:solidFill>
                  <a:srgbClr val="000000"/>
                </a:solidFill>
                <a:latin typeface="Merriweather Bold" pitchFamily="34" charset="0"/>
                <a:ea typeface="Merriweather Bold" pitchFamily="34" charset="-122"/>
                <a:cs typeface="Merriweather Bold" pitchFamily="34" charset="-120"/>
              </a:rPr>
              <a:t>Target:</a:t>
            </a:r>
            <a:r>
              <a:rPr lang="en-US" sz="900" dirty="0">
                <a:solidFill>
                  <a:srgbClr val="000000"/>
                </a:solidFill>
                <a:latin typeface="Merriweather" pitchFamily="34" charset="0"/>
                <a:ea typeface="Merriweather" pitchFamily="34" charset="-122"/>
                <a:cs typeface="Merriweather" pitchFamily="34" charset="-120"/>
              </a:rPr>
              <a:t> Revenue growth 15%+, Review score above 4.3</a:t>
            </a:r>
            <a:endParaRPr lang="en-US" sz="900" dirty="0"/>
          </a:p>
        </p:txBody>
      </p:sp>
      <p:sp>
        <p:nvSpPr>
          <p:cNvPr id="18" name="Text 16"/>
          <p:cNvSpPr/>
          <p:nvPr/>
        </p:nvSpPr>
        <p:spPr>
          <a:xfrm>
            <a:off x="311237" y="4252801"/>
            <a:ext cx="8521452" cy="166762"/>
          </a:xfrm>
          <a:prstGeom prst="rect">
            <a:avLst/>
          </a:prstGeom>
          <a:noFill/>
          <a:ln/>
        </p:spPr>
        <p:txBody>
          <a:bodyPr wrap="none" lIns="0" tIns="0" rIns="0" bIns="0" rtlCol="0" anchor="t"/>
          <a:lstStyle/>
          <a:p>
            <a:pPr marL="0" indent="0" algn="l">
              <a:lnSpc>
                <a:spcPct val="118000"/>
              </a:lnSpc>
              <a:buNone/>
            </a:pPr>
            <a:r>
              <a:rPr lang="en-US" sz="900" dirty="0">
                <a:solidFill>
                  <a:srgbClr val="E2E6E9"/>
                </a:solidFill>
                <a:latin typeface="Merriweather" pitchFamily="34" charset="0"/>
                <a:ea typeface="Merriweather" pitchFamily="34" charset="-122"/>
                <a:cs typeface="Merriweather" pitchFamily="34" charset="-120"/>
              </a:rPr>
              <a:t>       </a:t>
            </a:r>
            <a:r>
              <a:rPr lang="en-US" sz="900" b="1" dirty="0">
                <a:solidFill>
                  <a:srgbClr val="E2E6E9"/>
                </a:solidFill>
                <a:latin typeface="Merriweather Bold" pitchFamily="34" charset="0"/>
                <a:ea typeface="Merriweather Bold" pitchFamily="34" charset="-122"/>
                <a:cs typeface="Merriweather Bold" pitchFamily="34" charset="-120"/>
              </a:rPr>
              <a:t>Month 3:</a:t>
            </a:r>
            <a:r>
              <a:rPr lang="en-US" sz="900" dirty="0">
                <a:solidFill>
                  <a:srgbClr val="E2E6E9"/>
                </a:solidFill>
                <a:latin typeface="Merriweather" pitchFamily="34" charset="0"/>
                <a:ea typeface="Merriweather" pitchFamily="34" charset="-122"/>
                <a:cs typeface="Merriweather" pitchFamily="34" charset="-120"/>
              </a:rPr>
              <a:t> Late delivery below </a:t>
            </a:r>
            <a:r>
              <a:rPr lang="en-US" sz="900" dirty="0">
                <a:solidFill>
                  <a:srgbClr val="FFFF00"/>
                </a:solidFill>
                <a:latin typeface="Merriweather" pitchFamily="34" charset="0"/>
                <a:ea typeface="Merriweather" pitchFamily="34" charset="-122"/>
                <a:cs typeface="Merriweather" pitchFamily="34" charset="-120"/>
              </a:rPr>
              <a:t>5%  </a:t>
            </a:r>
            <a:r>
              <a:rPr lang="en-US" sz="900" dirty="0">
                <a:solidFill>
                  <a:srgbClr val="E2E6E9"/>
                </a:solidFill>
                <a:latin typeface="Merriweather" pitchFamily="34" charset="0"/>
                <a:ea typeface="Merriweather" pitchFamily="34" charset="-122"/>
                <a:cs typeface="Merriweather" pitchFamily="34" charset="-120"/>
              </a:rPr>
              <a:t>|  </a:t>
            </a:r>
            <a:r>
              <a:rPr lang="en-US" sz="900" b="1" dirty="0">
                <a:solidFill>
                  <a:srgbClr val="E2E6E9"/>
                </a:solidFill>
                <a:latin typeface="Merriweather Bold" pitchFamily="34" charset="0"/>
                <a:ea typeface="Merriweather Bold" pitchFamily="34" charset="-122"/>
                <a:cs typeface="Merriweather Bold" pitchFamily="34" charset="-120"/>
              </a:rPr>
              <a:t>Month 8:</a:t>
            </a:r>
            <a:r>
              <a:rPr lang="en-US" sz="900" dirty="0">
                <a:solidFill>
                  <a:srgbClr val="E2E6E9"/>
                </a:solidFill>
                <a:latin typeface="Merriweather" pitchFamily="34" charset="0"/>
                <a:ea typeface="Merriweather" pitchFamily="34" charset="-122"/>
                <a:cs typeface="Merriweather" pitchFamily="34" charset="-120"/>
              </a:rPr>
              <a:t> Freight below </a:t>
            </a:r>
            <a:r>
              <a:rPr lang="en-US" sz="900" dirty="0">
                <a:solidFill>
                  <a:srgbClr val="FFFF00"/>
                </a:solidFill>
                <a:latin typeface="Merriweather" pitchFamily="34" charset="0"/>
                <a:ea typeface="Merriweather" pitchFamily="34" charset="-122"/>
                <a:cs typeface="Merriweather" pitchFamily="34" charset="-120"/>
              </a:rPr>
              <a:t>10%  </a:t>
            </a:r>
            <a:r>
              <a:rPr lang="en-US" sz="900" dirty="0">
                <a:solidFill>
                  <a:srgbClr val="E2E6E9"/>
                </a:solidFill>
                <a:latin typeface="Merriweather" pitchFamily="34" charset="0"/>
                <a:ea typeface="Merriweather" pitchFamily="34" charset="-122"/>
                <a:cs typeface="Merriweather" pitchFamily="34" charset="-120"/>
              </a:rPr>
              <a:t>|  </a:t>
            </a:r>
            <a:r>
              <a:rPr lang="en-US" sz="900" b="1" dirty="0">
                <a:solidFill>
                  <a:srgbClr val="E2E6E9"/>
                </a:solidFill>
                <a:latin typeface="Merriweather Bold" pitchFamily="34" charset="0"/>
                <a:ea typeface="Merriweather Bold" pitchFamily="34" charset="-122"/>
                <a:cs typeface="Merriweather Bold" pitchFamily="34" charset="-120"/>
              </a:rPr>
              <a:t>Month 12:</a:t>
            </a:r>
            <a:r>
              <a:rPr lang="en-US" sz="900" dirty="0">
                <a:solidFill>
                  <a:srgbClr val="E2E6E9"/>
                </a:solidFill>
                <a:latin typeface="Merriweather" pitchFamily="34" charset="0"/>
                <a:ea typeface="Merriweather" pitchFamily="34" charset="-122"/>
                <a:cs typeface="Merriweather" pitchFamily="34" charset="-120"/>
              </a:rPr>
              <a:t> Revenue </a:t>
            </a:r>
            <a:r>
              <a:rPr lang="en-US" sz="900" dirty="0">
                <a:solidFill>
                  <a:srgbClr val="FFFF00"/>
                </a:solidFill>
                <a:latin typeface="Merriweather" pitchFamily="34" charset="0"/>
                <a:ea typeface="Merriweather" pitchFamily="34" charset="-122"/>
                <a:cs typeface="Merriweather" pitchFamily="34" charset="-120"/>
              </a:rPr>
              <a:t>+15%     </a:t>
            </a:r>
            <a:endParaRPr lang="en-US" sz="900" dirty="0">
              <a:solidFill>
                <a:srgbClr val="FFFF00"/>
              </a:solidFill>
            </a:endParaRPr>
          </a:p>
        </p:txBody>
      </p:sp>
      <p:sp>
        <p:nvSpPr>
          <p:cNvPr id="22" name="Rectangle 21">
            <a:extLst>
              <a:ext uri="{FF2B5EF4-FFF2-40B4-BE49-F238E27FC236}">
                <a16:creationId xmlns:a16="http://schemas.microsoft.com/office/drawing/2014/main" id="{9727AFAB-5902-8B52-9235-6F16625E7BA6}"/>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F870544-3C9D-AF09-CB03-C0F6931CE737}"/>
              </a:ext>
            </a:extLst>
          </p:cNvPr>
          <p:cNvSpPr txBox="1"/>
          <p:nvPr/>
        </p:nvSpPr>
        <p:spPr>
          <a:xfrm>
            <a:off x="1182477" y="363626"/>
            <a:ext cx="6778972" cy="369332"/>
          </a:xfrm>
          <a:prstGeom prst="rect">
            <a:avLst/>
          </a:prstGeom>
          <a:noFill/>
        </p:spPr>
        <p:txBody>
          <a:bodyPr wrap="square" rtlCol="0">
            <a:spAutoFit/>
          </a:bodyPr>
          <a:lstStyle/>
          <a:p>
            <a:pPr lvl="0" algn="ctr">
              <a:defRPr/>
            </a:pPr>
            <a:r>
              <a:rPr lang="en-IN" dirty="0">
                <a:solidFill>
                  <a:srgbClr val="FF0000"/>
                </a:solidFill>
              </a:rPr>
              <a:t>Summary of All Findings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6" name="Text 14">
            <a:extLst>
              <a:ext uri="{FF2B5EF4-FFF2-40B4-BE49-F238E27FC236}">
                <a16:creationId xmlns:a16="http://schemas.microsoft.com/office/drawing/2014/main" id="{22CB2BAD-D5B3-A763-E31C-44C15DD866DF}"/>
              </a:ext>
            </a:extLst>
          </p:cNvPr>
          <p:cNvSpPr/>
          <p:nvPr/>
        </p:nvSpPr>
        <p:spPr>
          <a:xfrm>
            <a:off x="568226" y="4820636"/>
            <a:ext cx="8521452" cy="107231"/>
          </a:xfrm>
          <a:prstGeom prst="rect">
            <a:avLst/>
          </a:prstGeom>
          <a:noFill/>
          <a:ln/>
        </p:spPr>
        <p:txBody>
          <a:bodyPr wrap="none" lIns="0" tIns="0" rIns="0" bIns="0" rtlCol="0" anchor="t"/>
          <a:lstStyle/>
          <a:p>
            <a:pPr marL="0" indent="0" algn="ctr">
              <a:lnSpc>
                <a:spcPct val="110000"/>
              </a:lnSpc>
              <a:buNone/>
            </a:pPr>
            <a:r>
              <a:rPr lang="en-US" sz="600" dirty="0">
                <a:solidFill>
                  <a:srgbClr val="E2E6E9"/>
                </a:solidFill>
                <a:latin typeface="Merriweather" pitchFamily="34" charset="0"/>
                <a:ea typeface="Merriweather" pitchFamily="34" charset="-122"/>
                <a:cs typeface="Merriweather" pitchFamily="34" charset="-120"/>
              </a:rPr>
              <a:t>Supply Chain Analytics Infrastructure | Sibananda Swain | June 2026 | Source Data: Public E-Commerce Olist Records via Kaggle</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113433" y="401054"/>
            <a:ext cx="4917058" cy="949077"/>
          </a:xfrm>
          <a:prstGeom prst="rect">
            <a:avLst/>
          </a:prstGeom>
          <a:noFill/>
          <a:ln/>
        </p:spPr>
        <p:txBody>
          <a:bodyPr wrap="square" lIns="0" tIns="0" rIns="0" bIns="0" rtlCol="0" anchor="t">
            <a:normAutofit fontScale="92500"/>
          </a:bodyPr>
          <a:lstStyle/>
          <a:p>
            <a:pPr marL="0" indent="0" algn="ctr">
              <a:lnSpc>
                <a:spcPct val="104000"/>
              </a:lnSpc>
              <a:buNone/>
            </a:pPr>
            <a:r>
              <a:rPr lang="en-US" sz="2950" b="1" dirty="0">
                <a:solidFill>
                  <a:srgbClr val="00B050"/>
                </a:solidFill>
                <a:latin typeface="Merriweather Bold" pitchFamily="34" charset="0"/>
                <a:ea typeface="Merriweather Bold" pitchFamily="34" charset="-122"/>
                <a:cs typeface="Merriweather Bold" pitchFamily="34" charset="-120"/>
              </a:rPr>
              <a:t>Thank You</a:t>
            </a:r>
            <a:endParaRPr lang="en-US" sz="2950" dirty="0">
              <a:solidFill>
                <a:srgbClr val="00B050"/>
              </a:solidFill>
            </a:endParaRPr>
          </a:p>
          <a:p>
            <a:pPr marL="0" indent="0" algn="ctr">
              <a:lnSpc>
                <a:spcPct val="104000"/>
              </a:lnSpc>
              <a:buNone/>
            </a:pPr>
            <a:r>
              <a:rPr lang="en-US" sz="2950" dirty="0">
                <a:solidFill>
                  <a:srgbClr val="FFFFFF"/>
                </a:solidFill>
                <a:latin typeface="Merriweather" pitchFamily="34" charset="0"/>
                <a:ea typeface="Merriweather" pitchFamily="34" charset="-122"/>
                <a:cs typeface="Merriweather" pitchFamily="34" charset="-120"/>
              </a:rPr>
              <a:t> </a:t>
            </a:r>
            <a:r>
              <a:rPr lang="en-US" sz="2950" dirty="0">
                <a:solidFill>
                  <a:srgbClr val="FFFF00"/>
                </a:solidFill>
                <a:latin typeface="Merriweather" pitchFamily="34" charset="0"/>
                <a:ea typeface="Merriweather" pitchFamily="34" charset="-122"/>
                <a:cs typeface="Merriweather" pitchFamily="34" charset="-120"/>
              </a:rPr>
              <a:t>Supply Chain Data Analyst</a:t>
            </a:r>
            <a:endParaRPr lang="en-US" sz="2950" dirty="0">
              <a:solidFill>
                <a:srgbClr val="FFFF00"/>
              </a:solidFill>
            </a:endParaRPr>
          </a:p>
        </p:txBody>
      </p:sp>
      <p:sp>
        <p:nvSpPr>
          <p:cNvPr id="3" name="Shape 1"/>
          <p:cNvSpPr/>
          <p:nvPr/>
        </p:nvSpPr>
        <p:spPr>
          <a:xfrm>
            <a:off x="539874" y="1712937"/>
            <a:ext cx="2588419" cy="1761381"/>
          </a:xfrm>
          <a:prstGeom prst="roundRect">
            <a:avLst>
              <a:gd name="adj" fmla="val 3621"/>
            </a:avLst>
          </a:prstGeom>
          <a:solidFill>
            <a:srgbClr val="003180"/>
          </a:solidFill>
          <a:ln w="4763">
            <a:solidFill>
              <a:srgbClr val="194A99"/>
            </a:solidFill>
            <a:prstDash val="solid"/>
          </a:ln>
        </p:spPr>
      </p:sp>
      <p:sp>
        <p:nvSpPr>
          <p:cNvPr id="4" name="Text 2"/>
          <p:cNvSpPr/>
          <p:nvPr/>
        </p:nvSpPr>
        <p:spPr>
          <a:xfrm>
            <a:off x="696441" y="1869504"/>
            <a:ext cx="1898228" cy="23723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WHAT I BUILT</a:t>
            </a:r>
            <a:endParaRPr lang="en-US" sz="1450" dirty="0"/>
          </a:p>
        </p:txBody>
      </p:sp>
      <p:sp>
        <p:nvSpPr>
          <p:cNvPr id="5" name="Text 3"/>
          <p:cNvSpPr/>
          <p:nvPr/>
        </p:nvSpPr>
        <p:spPr>
          <a:xfrm>
            <a:off x="696441" y="2196405"/>
            <a:ext cx="2275284" cy="1121346"/>
          </a:xfrm>
          <a:prstGeom prst="rect">
            <a:avLst/>
          </a:prstGeom>
          <a:noFill/>
          <a:ln/>
        </p:spPr>
        <p:txBody>
          <a:bodyPr wrap="square" lIns="0" tIns="0" rIns="0" bIns="0" rtlCol="0" anchor="t">
            <a:normAutofit/>
          </a:bodyPr>
          <a:lstStyle/>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3-page Power BI Dashboard</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9 DAX Measures</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Star Schema Data Model</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6 Active Relationships</a:t>
            </a:r>
            <a:endParaRPr lang="en-US" sz="1150" dirty="0"/>
          </a:p>
        </p:txBody>
      </p:sp>
      <p:sp>
        <p:nvSpPr>
          <p:cNvPr id="6" name="Shape 4"/>
          <p:cNvSpPr/>
          <p:nvPr/>
        </p:nvSpPr>
        <p:spPr>
          <a:xfrm>
            <a:off x="3277716" y="1712937"/>
            <a:ext cx="2588493" cy="1761381"/>
          </a:xfrm>
          <a:prstGeom prst="roundRect">
            <a:avLst>
              <a:gd name="adj" fmla="val 3621"/>
            </a:avLst>
          </a:prstGeom>
          <a:solidFill>
            <a:srgbClr val="003180"/>
          </a:solidFill>
          <a:ln w="4763">
            <a:solidFill>
              <a:srgbClr val="194A99"/>
            </a:solidFill>
            <a:prstDash val="solid"/>
          </a:ln>
        </p:spPr>
      </p:sp>
      <p:sp>
        <p:nvSpPr>
          <p:cNvPr id="7" name="Text 5"/>
          <p:cNvSpPr/>
          <p:nvPr/>
        </p:nvSpPr>
        <p:spPr>
          <a:xfrm>
            <a:off x="3434283" y="1869504"/>
            <a:ext cx="1898228" cy="23723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DATA ANALYZED</a:t>
            </a:r>
            <a:endParaRPr lang="en-US" sz="1450" dirty="0"/>
          </a:p>
        </p:txBody>
      </p:sp>
      <p:sp>
        <p:nvSpPr>
          <p:cNvPr id="8" name="Text 6"/>
          <p:cNvSpPr/>
          <p:nvPr/>
        </p:nvSpPr>
        <p:spPr>
          <a:xfrm>
            <a:off x="3434283" y="2196405"/>
            <a:ext cx="2275359" cy="1121346"/>
          </a:xfrm>
          <a:prstGeom prst="rect">
            <a:avLst/>
          </a:prstGeom>
          <a:noFill/>
          <a:ln/>
        </p:spPr>
        <p:txBody>
          <a:bodyPr wrap="square" lIns="0" tIns="0" rIns="0" bIns="0" rtlCol="0" anchor="t">
            <a:normAutofit/>
          </a:bodyPr>
          <a:lstStyle/>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118,310 Orders</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7 Cleaned Tables</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6 Pivot Tables</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Real Business Insights</a:t>
            </a:r>
            <a:endParaRPr lang="en-US" sz="1150" dirty="0"/>
          </a:p>
        </p:txBody>
      </p:sp>
      <p:sp>
        <p:nvSpPr>
          <p:cNvPr id="9" name="Shape 7"/>
          <p:cNvSpPr/>
          <p:nvPr/>
        </p:nvSpPr>
        <p:spPr>
          <a:xfrm>
            <a:off x="6015633" y="1712937"/>
            <a:ext cx="2588493" cy="1761381"/>
          </a:xfrm>
          <a:prstGeom prst="roundRect">
            <a:avLst>
              <a:gd name="adj" fmla="val 3621"/>
            </a:avLst>
          </a:prstGeom>
          <a:solidFill>
            <a:srgbClr val="003180"/>
          </a:solidFill>
          <a:ln w="4763">
            <a:solidFill>
              <a:srgbClr val="194A99"/>
            </a:solidFill>
            <a:prstDash val="solid"/>
          </a:ln>
        </p:spPr>
      </p:sp>
      <p:sp>
        <p:nvSpPr>
          <p:cNvPr id="10" name="Text 8"/>
          <p:cNvSpPr/>
          <p:nvPr/>
        </p:nvSpPr>
        <p:spPr>
          <a:xfrm>
            <a:off x="6172200" y="1869504"/>
            <a:ext cx="1898228" cy="23723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TOOLS USED</a:t>
            </a:r>
            <a:endParaRPr lang="en-US" sz="1450" dirty="0"/>
          </a:p>
        </p:txBody>
      </p:sp>
      <p:sp>
        <p:nvSpPr>
          <p:cNvPr id="11" name="Text 9"/>
          <p:cNvSpPr/>
          <p:nvPr/>
        </p:nvSpPr>
        <p:spPr>
          <a:xfrm>
            <a:off x="6172200" y="2196405"/>
            <a:ext cx="2275359" cy="1121346"/>
          </a:xfrm>
          <a:prstGeom prst="rect">
            <a:avLst/>
          </a:prstGeom>
          <a:noFill/>
          <a:ln/>
        </p:spPr>
        <p:txBody>
          <a:bodyPr wrap="square" lIns="0" tIns="0" rIns="0" bIns="0" rtlCol="0" anchor="t">
            <a:normAutofit/>
          </a:bodyPr>
          <a:lstStyle/>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Microsoft Excel</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Power Query ETL</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Power BI Desktop</a:t>
            </a:r>
            <a:endParaRPr lang="en-US" sz="1150" dirty="0"/>
          </a:p>
          <a:p>
            <a:pPr marL="233680" indent="-233680" algn="l">
              <a:lnSpc>
                <a:spcPct val="132000"/>
              </a:lnSpc>
              <a:buSzPct val="100000"/>
              <a:buChar char="•"/>
            </a:pPr>
            <a:r>
              <a:rPr lang="en-US" sz="1150" dirty="0">
                <a:solidFill>
                  <a:srgbClr val="E2E6E9"/>
                </a:solidFill>
                <a:latin typeface="Merriweather" pitchFamily="34" charset="0"/>
                <a:ea typeface="Merriweather" pitchFamily="34" charset="-122"/>
                <a:cs typeface="Merriweather" pitchFamily="34" charset="-120"/>
              </a:rPr>
              <a:t>Kaggle Dataset</a:t>
            </a:r>
            <a:endParaRPr lang="en-US" sz="1150" dirty="0"/>
          </a:p>
        </p:txBody>
      </p:sp>
      <p:sp>
        <p:nvSpPr>
          <p:cNvPr id="12" name="Text 10"/>
          <p:cNvSpPr/>
          <p:nvPr/>
        </p:nvSpPr>
        <p:spPr>
          <a:xfrm>
            <a:off x="539874" y="3642420"/>
            <a:ext cx="8064252" cy="482203"/>
          </a:xfrm>
          <a:prstGeom prst="rect">
            <a:avLst/>
          </a:prstGeom>
          <a:noFill/>
          <a:ln/>
        </p:spPr>
        <p:txBody>
          <a:bodyPr wrap="square" lIns="0" tIns="0" rIns="0" bIns="0" rtlCol="0" anchor="t">
            <a:normAutofit/>
          </a:bodyPr>
          <a:lstStyle/>
          <a:p>
            <a:pPr marL="0" indent="0" algn="ctr">
              <a:lnSpc>
                <a:spcPct val="132000"/>
              </a:lnSpc>
              <a:buNone/>
            </a:pPr>
            <a:r>
              <a:rPr lang="en-US" sz="1150" dirty="0">
                <a:solidFill>
                  <a:srgbClr val="E2E6E9"/>
                </a:solidFill>
                <a:latin typeface="Merriweather" pitchFamily="34" charset="0"/>
                <a:ea typeface="Merriweather" pitchFamily="34" charset="-122"/>
                <a:cs typeface="Merriweather" pitchFamily="34" charset="-120"/>
              </a:rPr>
              <a:t>GitHub: </a:t>
            </a:r>
            <a:r>
              <a:rPr lang="en-US" sz="1150" b="1" u="sng" dirty="0">
                <a:solidFill>
                  <a:srgbClr val="00B0F0"/>
                </a:solidFill>
                <a:latin typeface="Merriweather Bold" pitchFamily="34" charset="0"/>
                <a:ea typeface="Merriweather Bold" pitchFamily="34" charset="-122"/>
                <a:cs typeface="Merriweather Bold" pitchFamily="34" charset="-120"/>
                <a:hlinkClick r:id="rId3">
                  <a:extLst>
                    <a:ext uri="{A12FA001-AC4F-418D-AE19-62706E023703}">
                      <ahyp:hlinkClr xmlns:ahyp="http://schemas.microsoft.com/office/drawing/2018/hyperlinkcolor" val="tx"/>
                    </a:ext>
                  </a:extLst>
                </a:hlinkClick>
              </a:rPr>
              <a:t>github.com/sibananda-swain/supply-chain-analytics</a:t>
            </a:r>
            <a:endParaRPr lang="en-US" sz="1150" dirty="0">
              <a:solidFill>
                <a:srgbClr val="00B0F0"/>
              </a:solidFill>
            </a:endParaRPr>
          </a:p>
          <a:p>
            <a:pPr marL="0" indent="0" algn="ctr">
              <a:lnSpc>
                <a:spcPct val="132000"/>
              </a:lnSpc>
              <a:buNone/>
            </a:pPr>
            <a:r>
              <a:rPr lang="en-US" sz="1150" dirty="0">
                <a:solidFill>
                  <a:srgbClr val="E2E6E9"/>
                </a:solidFill>
                <a:latin typeface="Merriweather" pitchFamily="34" charset="0"/>
                <a:ea typeface="Merriweather" pitchFamily="34" charset="-122"/>
                <a:cs typeface="Merriweather" pitchFamily="34" charset="-120"/>
              </a:rPr>
              <a:t>LinkedIn: </a:t>
            </a:r>
            <a:r>
              <a:rPr lang="en-US" sz="1150" b="1" u="sng" dirty="0">
                <a:solidFill>
                  <a:srgbClr val="00B0F0"/>
                </a:solidFill>
                <a:latin typeface="Merriweather Bold" pitchFamily="34" charset="0"/>
                <a:ea typeface="Merriweather Bold" pitchFamily="34" charset="-122"/>
                <a:cs typeface="Merriweather Bold" pitchFamily="34" charset="-120"/>
                <a:hlinkClick r:id="rId4">
                  <a:extLst>
                    <a:ext uri="{A12FA001-AC4F-418D-AE19-62706E023703}">
                      <ahyp:hlinkClr xmlns:ahyp="http://schemas.microsoft.com/office/drawing/2018/hyperlinkcolor" val="tx"/>
                    </a:ext>
                  </a:extLst>
                </a:hlinkClick>
              </a:rPr>
              <a:t>linkedin.com/in/sibananda-swain</a:t>
            </a:r>
            <a:endParaRPr lang="en-US" sz="1150" dirty="0">
              <a:solidFill>
                <a:srgbClr val="00B0F0"/>
              </a:solidFill>
            </a:endParaRPr>
          </a:p>
        </p:txBody>
      </p:sp>
      <p:sp>
        <p:nvSpPr>
          <p:cNvPr id="13" name="Text 11"/>
          <p:cNvSpPr/>
          <p:nvPr/>
        </p:nvSpPr>
        <p:spPr>
          <a:xfrm>
            <a:off x="539874" y="4292724"/>
            <a:ext cx="8064252" cy="385763"/>
          </a:xfrm>
          <a:prstGeom prst="rect">
            <a:avLst/>
          </a:prstGeom>
          <a:noFill/>
          <a:ln/>
        </p:spPr>
        <p:txBody>
          <a:bodyPr wrap="square" lIns="0" tIns="0" rIns="0" bIns="0" rtlCol="0" anchor="t">
            <a:normAutofit/>
          </a:bodyPr>
          <a:lstStyle/>
          <a:p>
            <a:pPr marL="0" indent="0" algn="ctr">
              <a:lnSpc>
                <a:spcPct val="132000"/>
              </a:lnSpc>
              <a:buNone/>
            </a:pPr>
            <a:r>
              <a:rPr lang="en-US" sz="950" dirty="0">
                <a:solidFill>
                  <a:srgbClr val="E2E6E9"/>
                </a:solidFill>
                <a:latin typeface="Merriweather" pitchFamily="34" charset="0"/>
                <a:ea typeface="Merriweather" pitchFamily="34" charset="-122"/>
                <a:cs typeface="Merriweather" pitchFamily="34" charset="-120"/>
              </a:rPr>
              <a:t>Supply Chain Analytics | June 2026 | Sibananda Swain</a:t>
            </a:r>
            <a:endParaRPr lang="en-US" sz="950" dirty="0"/>
          </a:p>
          <a:p>
            <a:pPr marL="0" indent="0" algn="ctr">
              <a:lnSpc>
                <a:spcPct val="132000"/>
              </a:lnSpc>
              <a:buNone/>
            </a:pPr>
            <a:r>
              <a:rPr lang="en-US" sz="950" dirty="0">
                <a:solidFill>
                  <a:srgbClr val="E2E6E9"/>
                </a:solidFill>
                <a:latin typeface="Merriweather" pitchFamily="34" charset="0"/>
                <a:ea typeface="Merriweather" pitchFamily="34" charset="-122"/>
                <a:cs typeface="Merriweather" pitchFamily="34" charset="-120"/>
              </a:rPr>
              <a:t>Source: Brazilian E-Commerce Olist Dataset | Kaggle.com</a:t>
            </a:r>
            <a:endParaRPr lang="en-US" sz="950" dirty="0"/>
          </a:p>
        </p:txBody>
      </p:sp>
      <p:sp>
        <p:nvSpPr>
          <p:cNvPr id="15" name="Rectangle 14">
            <a:extLst>
              <a:ext uri="{FF2B5EF4-FFF2-40B4-BE49-F238E27FC236}">
                <a16:creationId xmlns:a16="http://schemas.microsoft.com/office/drawing/2014/main" id="{3E1846E5-843A-0B62-6348-9FC468FD256B}"/>
              </a:ext>
            </a:extLst>
          </p:cNvPr>
          <p:cNvSpPr/>
          <p:nvPr/>
        </p:nvSpPr>
        <p:spPr>
          <a:xfrm>
            <a:off x="8067040" y="4820636"/>
            <a:ext cx="1022638" cy="266137"/>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00"/>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1915</Words>
  <Application>Microsoft Office PowerPoint</Application>
  <PresentationFormat>On-screen Show (16:9)</PresentationFormat>
  <Paragraphs>260</Paragraphs>
  <Slides>11</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Merriweather</vt:lpstr>
      <vt:lpstr>Times New Roman</vt:lpstr>
      <vt:lpstr>Arial</vt:lpstr>
      <vt:lpstr>Calibri</vt:lpstr>
      <vt:lpstr>Merriweather 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Sibananda Swain</cp:lastModifiedBy>
  <cp:revision>12</cp:revision>
  <dcterms:created xsi:type="dcterms:W3CDTF">2026-07-05T17:39:15Z</dcterms:created>
  <dcterms:modified xsi:type="dcterms:W3CDTF">2026-07-05T22:48:36Z</dcterms:modified>
</cp:coreProperties>
</file>